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42"/>
  </p:notesMasterIdLst>
  <p:handoutMasterIdLst>
    <p:handoutMasterId r:id="rId43"/>
  </p:handoutMasterIdLst>
  <p:sldIdLst>
    <p:sldId id="334" r:id="rId5"/>
    <p:sldId id="328" r:id="rId6"/>
    <p:sldId id="342" r:id="rId7"/>
    <p:sldId id="350" r:id="rId8"/>
    <p:sldId id="381" r:id="rId9"/>
    <p:sldId id="346" r:id="rId10"/>
    <p:sldId id="353" r:id="rId11"/>
    <p:sldId id="380" r:id="rId12"/>
    <p:sldId id="359" r:id="rId13"/>
    <p:sldId id="356" r:id="rId14"/>
    <p:sldId id="357" r:id="rId15"/>
    <p:sldId id="358" r:id="rId16"/>
    <p:sldId id="360" r:id="rId17"/>
    <p:sldId id="361" r:id="rId18"/>
    <p:sldId id="362" r:id="rId19"/>
    <p:sldId id="354" r:id="rId20"/>
    <p:sldId id="363" r:id="rId21"/>
    <p:sldId id="364" r:id="rId22"/>
    <p:sldId id="365" r:id="rId23"/>
    <p:sldId id="366" r:id="rId24"/>
    <p:sldId id="367" r:id="rId25"/>
    <p:sldId id="369" r:id="rId26"/>
    <p:sldId id="370" r:id="rId27"/>
    <p:sldId id="336" r:id="rId28"/>
    <p:sldId id="368" r:id="rId29"/>
    <p:sldId id="372" r:id="rId30"/>
    <p:sldId id="373" r:id="rId31"/>
    <p:sldId id="374" r:id="rId32"/>
    <p:sldId id="375" r:id="rId33"/>
    <p:sldId id="376" r:id="rId34"/>
    <p:sldId id="377" r:id="rId35"/>
    <p:sldId id="379" r:id="rId36"/>
    <p:sldId id="382" r:id="rId37"/>
    <p:sldId id="351" r:id="rId38"/>
    <p:sldId id="383" r:id="rId39"/>
    <p:sldId id="352" r:id="rId40"/>
    <p:sldId id="34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3F2"/>
    <a:srgbClr val="7CE0DE"/>
    <a:srgbClr val="33CCCC"/>
    <a:srgbClr val="FFE9A3"/>
    <a:srgbClr val="FFD85D"/>
    <a:srgbClr val="FFA771"/>
    <a:srgbClr val="FF8133"/>
    <a:srgbClr val="FFC4A0"/>
    <a:srgbClr val="A0484E"/>
    <a:srgbClr val="D17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AE17-AC0A-F29F-B939-944C0B85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A9E18-5F47-D6DC-9C9F-C87195F14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49FEC-9D19-7CC2-ADA0-82FB9EBAE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56AC6-3D5E-4B07-81CB-A4D832206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561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7090-E2C3-779C-4948-88C0A91E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71A67-7098-364F-AFFE-14D216DA9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9BF8B-37DA-5AED-B768-B40CA9848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C5305-8D19-8753-885C-A674E1073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888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9046-1E46-5512-BC04-C4B0A618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CB3CF-D19F-CA56-525E-FD2E3B847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FA964-5EEC-0E2C-4CA9-AEE44FF02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CF86C-8C4F-474D-F56C-328F00D4C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682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4094-B400-6C71-B351-33BB6C89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52D2-66A9-8E45-DCDE-F536E3401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F8EFB-81EA-B34B-AE88-287B1CF3F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89DB-E709-507C-D6FD-970B26688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57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40DF-5751-7F3D-9842-7F2B5222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16C14-9308-7F6A-A108-0446DB91D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8BEE0-28B9-65AF-05A1-34925E9D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6F80-72C6-6E82-9790-20253890F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0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BB64-DD7F-1F7F-652F-E1316347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C9C79-FAD9-BDE7-F207-DDFC684DB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B4307-659B-A11C-A8BE-C6A0DB442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50FF-20D3-7851-9DE2-05AEC15E9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26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8DF1-2F94-081F-0CBB-3B9B23F7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14843-C6D6-FC04-0D0C-263CB03D0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103E5-91FB-F90E-E17C-80968B48A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B9A83-22FB-2545-CA77-74B1EF65D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7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84A2-FF01-5FA9-D256-EC645354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E85FA-2252-12F0-F343-A0E8C7DC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85409-67C1-DD98-5B23-01C1847C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9168-1E97-B578-119B-6B1EE6200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684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F3C4-1752-4470-981C-82A9A53D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98857-12A1-5CFF-2B2E-4FD3EA157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EB6F2-2F88-7728-D5E9-B88CCA8CF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A03E4-F72D-BA0A-2018-A05239002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53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xhere.com/en/photo/92451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jpeg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GC 602 (Webb image) | ESA/Webb">
            <a:extLst>
              <a:ext uri="{FF2B5EF4-FFF2-40B4-BE49-F238E27FC236}">
                <a16:creationId xmlns:a16="http://schemas.microsoft.com/office/drawing/2014/main" id="{DA8DAB0C-DA87-D735-17E6-D89675C69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AC6577"/>
          </a:solidFill>
          <a:ln w="1905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259" y="1427584"/>
            <a:ext cx="9397482" cy="3862873"/>
          </a:xfrm>
          <a:solidFill>
            <a:srgbClr val="A0484E"/>
          </a:solidFill>
          <a:ln w="19050">
            <a:solidFill>
              <a:schemeClr val="bg1"/>
            </a:solidFill>
          </a:ln>
        </p:spPr>
        <p:txBody>
          <a:bodyPr anchor="ctr"/>
          <a:lstStyle/>
          <a:p>
            <a:pPr algn="ctr"/>
            <a:r>
              <a:rPr lang="en-US" sz="5000" dirty="0"/>
              <a:t>Predicting Earth-Like Similarity in Exoplanets </a:t>
            </a:r>
            <a:br>
              <a:rPr lang="en-US" sz="5000" dirty="0"/>
            </a:br>
            <a:r>
              <a:rPr lang="en-US" sz="5000" dirty="0"/>
              <a:t>Using Machine Learning</a:t>
            </a:r>
            <a:br>
              <a:rPr lang="en-US" sz="5000" dirty="0"/>
            </a:br>
            <a:r>
              <a:rPr lang="en-US" sz="3000" dirty="0"/>
              <a:t>BY: Samia Mahmood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029" y="2258009"/>
            <a:ext cx="4898572" cy="40696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from NASA’s Exoplanet Archive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 6,071 confirmed exoplanets as of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Discovered mainly by:</a:t>
            </a:r>
          </a:p>
          <a:p>
            <a:pPr marL="514350" lvl="1" indent="-285750"/>
            <a:r>
              <a:rPr lang="en-US" dirty="0"/>
              <a:t>Kepler Telescope</a:t>
            </a:r>
          </a:p>
          <a:p>
            <a:pPr marL="514350" lvl="1" indent="-285750"/>
            <a:r>
              <a:rPr lang="en-US" dirty="0"/>
              <a:t>K2 Telescope</a:t>
            </a:r>
          </a:p>
          <a:p>
            <a:pPr marL="514350" lvl="1" indent="-285750"/>
            <a:r>
              <a:rPr lang="en-US" dirty="0"/>
              <a:t>TESS Telescopes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Discoveries revolutionized by advancements in missions and telescopes</a:t>
            </a:r>
          </a:p>
        </p:txBody>
      </p:sp>
      <p:pic>
        <p:nvPicPr>
          <p:cNvPr id="13" name="Picture 57" descr="E:\URW-2016\kepler.png">
            <a:extLst>
              <a:ext uri="{FF2B5EF4-FFF2-40B4-BE49-F238E27FC236}">
                <a16:creationId xmlns:a16="http://schemas.microsoft.com/office/drawing/2014/main" id="{158DB80A-A893-B090-9627-900F38699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3768" y="205371"/>
            <a:ext cx="2843115" cy="1902768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139">
            <a:extLst>
              <a:ext uri="{FF2B5EF4-FFF2-40B4-BE49-F238E27FC236}">
                <a16:creationId xmlns:a16="http://schemas.microsoft.com/office/drawing/2014/main" id="{82835007-CF3E-A1A1-0A04-1B3D49E0AB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70265" y="2332143"/>
            <a:ext cx="2735263" cy="2058988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140">
            <a:extLst>
              <a:ext uri="{FF2B5EF4-FFF2-40B4-BE49-F238E27FC236}">
                <a16:creationId xmlns:a16="http://schemas.microsoft.com/office/drawing/2014/main" id="{1B78D7FF-9A51-D47A-012E-9812ED764F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633" y="4633216"/>
            <a:ext cx="2762250" cy="2071687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50FC67-9A39-FC52-214B-331404CBC75D}"/>
              </a:ext>
            </a:extLst>
          </p:cNvPr>
          <p:cNvSpPr txBox="1"/>
          <p:nvPr/>
        </p:nvSpPr>
        <p:spPr>
          <a:xfrm>
            <a:off x="8824425" y="301752"/>
            <a:ext cx="982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Kepler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6C857-51C1-9C99-5769-C64D940620E8}"/>
              </a:ext>
            </a:extLst>
          </p:cNvPr>
          <p:cNvSpPr txBox="1"/>
          <p:nvPr/>
        </p:nvSpPr>
        <p:spPr>
          <a:xfrm>
            <a:off x="11349190" y="2360135"/>
            <a:ext cx="982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63ED67-1F53-2A5E-2691-977E9214D51E}"/>
              </a:ext>
            </a:extLst>
          </p:cNvPr>
          <p:cNvSpPr txBox="1"/>
          <p:nvPr/>
        </p:nvSpPr>
        <p:spPr>
          <a:xfrm>
            <a:off x="8927061" y="4707861"/>
            <a:ext cx="982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TESS</a:t>
            </a:r>
          </a:p>
        </p:txBody>
      </p:sp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0"/>
            <a:ext cx="7498080" cy="1651518"/>
          </a:xfrm>
        </p:spPr>
        <p:txBody>
          <a:bodyPr/>
          <a:lstStyle/>
          <a:p>
            <a:r>
              <a:rPr lang="en-US" dirty="0"/>
              <a:t>Motivation: Problem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911" y="2080727"/>
            <a:ext cx="8028969" cy="4137193"/>
          </a:xfrm>
        </p:spPr>
        <p:txBody>
          <a:bodyPr/>
          <a:lstStyle/>
          <a:p>
            <a:pPr marL="800100" lvl="1" indent="-342900"/>
            <a:r>
              <a:rPr lang="en-US" sz="2000" b="1" dirty="0"/>
              <a:t>Rapid growth</a:t>
            </a:r>
            <a:r>
              <a:rPr lang="en-US" sz="2000" dirty="0"/>
              <a:t> of exoplanet discoveries creates challenges in studying exoplanets</a:t>
            </a:r>
          </a:p>
          <a:p>
            <a:pPr marL="457200" lvl="1" indent="0">
              <a:buNone/>
            </a:pPr>
            <a:endParaRPr lang="en-US" sz="2000" dirty="0"/>
          </a:p>
          <a:p>
            <a:pPr marL="800100" lvl="1" indent="-342900"/>
            <a:r>
              <a:rPr lang="en-US" sz="2000" dirty="0"/>
              <a:t>Manual analysis of astronomical dataset difficult:</a:t>
            </a:r>
          </a:p>
          <a:p>
            <a:pPr marL="1028700" lvl="2" indent="-342900"/>
            <a:r>
              <a:rPr lang="en-US" sz="2000" b="1" dirty="0"/>
              <a:t>Large-scale</a:t>
            </a:r>
          </a:p>
          <a:p>
            <a:pPr marL="1028700" lvl="2" indent="-342900"/>
            <a:r>
              <a:rPr lang="en-US" sz="2000" b="1" dirty="0"/>
              <a:t>High-dimensional </a:t>
            </a:r>
            <a:r>
              <a:rPr lang="en-US" sz="2000" b="1" dirty="0">
                <a:sym typeface="Wingdings" panose="05000000000000000000" pitchFamily="2" charset="2"/>
              </a:rPr>
              <a:t> complex</a:t>
            </a:r>
            <a:endParaRPr lang="en-US" sz="2000" b="1" dirty="0"/>
          </a:p>
          <a:p>
            <a:pPr marL="1028700" lvl="2" indent="-342900"/>
            <a:r>
              <a:rPr lang="en-US" sz="2000" b="1" dirty="0"/>
              <a:t>Highly variable </a:t>
            </a:r>
            <a:r>
              <a:rPr lang="en-US" sz="2000" b="1" dirty="0">
                <a:sym typeface="Wingdings" panose="05000000000000000000" pitchFamily="2" charset="2"/>
              </a:rPr>
              <a:t> outliers</a:t>
            </a:r>
            <a:endParaRPr lang="en-US" sz="2000" b="1" dirty="0"/>
          </a:p>
          <a:p>
            <a:pPr marL="1028700" lvl="2" indent="-342900"/>
            <a:r>
              <a:rPr lang="en-US" sz="2000" b="1" dirty="0"/>
              <a:t>Incomplete</a:t>
            </a:r>
          </a:p>
          <a:p>
            <a:pPr marL="1028700" lvl="2" indent="-342900"/>
            <a:r>
              <a:rPr lang="en-US" sz="2000" b="1" dirty="0"/>
              <a:t>Not uniformly distributed</a:t>
            </a:r>
          </a:p>
          <a:p>
            <a:pPr marL="685800" lvl="2" indent="0">
              <a:buNone/>
            </a:pPr>
            <a:endParaRPr lang="en-US" sz="2000" dirty="0"/>
          </a:p>
          <a:p>
            <a:pPr marL="800100" lvl="1" indent="-342900"/>
            <a:r>
              <a:rPr lang="en-US" sz="2000" dirty="0"/>
              <a:t>Outpaced our ability to </a:t>
            </a:r>
            <a:r>
              <a:rPr lang="en-US" sz="2000" b="1" dirty="0"/>
              <a:t>efficiently analyze, categorize, determine Earth-Like similarity, </a:t>
            </a:r>
            <a:r>
              <a:rPr lang="en-US" sz="2000" dirty="0"/>
              <a:t>and </a:t>
            </a:r>
            <a:r>
              <a:rPr lang="en-US" sz="2000" b="1" dirty="0"/>
              <a:t>assess habitability</a:t>
            </a:r>
          </a:p>
          <a:p>
            <a:pPr marL="800100" lvl="1" indent="-342900"/>
            <a:endParaRPr lang="en-US" sz="2000" b="1" dirty="0"/>
          </a:p>
        </p:txBody>
      </p:sp>
      <p:pic>
        <p:nvPicPr>
          <p:cNvPr id="1026" name="Picture 2" descr="Planets Transparent Background | Facts, Information, History &amp; Definition">
            <a:extLst>
              <a:ext uri="{FF2B5EF4-FFF2-40B4-BE49-F238E27FC236}">
                <a16:creationId xmlns:a16="http://schemas.microsoft.com/office/drawing/2014/main" id="{174BBFB5-0979-C067-104B-73139C0AE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557" y="640080"/>
            <a:ext cx="2844354" cy="2133265"/>
          </a:xfrm>
          <a:prstGeom prst="rect">
            <a:avLst/>
          </a:prstGeom>
          <a:noFill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anet PNG Images | Free Photos, PNG Stickers, Wallpapers &amp; Backgrounds -  rawpixel">
            <a:extLst>
              <a:ext uri="{FF2B5EF4-FFF2-40B4-BE49-F238E27FC236}">
                <a16:creationId xmlns:a16="http://schemas.microsoft.com/office/drawing/2014/main" id="{4441090E-8C30-D386-2D83-8B3F49989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92428" y="2773345"/>
            <a:ext cx="2156927" cy="215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lanet Png PNG Transparent With Clear Background ID 135886 | TOPpng">
            <a:extLst>
              <a:ext uri="{FF2B5EF4-FFF2-40B4-BE49-F238E27FC236}">
                <a16:creationId xmlns:a16="http://schemas.microsoft.com/office/drawing/2014/main" id="{A312EE90-59B2-53AD-4444-D0429EAB8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3176524">
            <a:off x="613964" y="4363322"/>
            <a:ext cx="2156927" cy="220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50CD-9F39-39F2-0BFB-4007C9A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939DB6-9781-37AC-FCE9-B05D87DCB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010" y="625151"/>
            <a:ext cx="5221223" cy="716778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43AE7B-C56E-F158-C622-CAD5D19577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8414" y="1548881"/>
            <a:ext cx="5430417" cy="52064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a </a:t>
            </a:r>
            <a:r>
              <a:rPr lang="en-US" b="1" dirty="0"/>
              <a:t>structured reproducible EDA </a:t>
            </a:r>
            <a:r>
              <a:rPr lang="en-US" dirty="0"/>
              <a:t>with</a:t>
            </a:r>
            <a:r>
              <a:rPr lang="en-US" b="1" dirty="0"/>
              <a:t> Supervised learning </a:t>
            </a:r>
            <a:r>
              <a:rPr lang="en-US" dirty="0"/>
              <a:t>and</a:t>
            </a:r>
            <a:r>
              <a:rPr lang="en-US" b="1" dirty="0"/>
              <a:t> Unsupervised learning models: </a:t>
            </a:r>
            <a:endParaRPr lang="en-US" b="1" dirty="0">
              <a:sym typeface="Wingdings" panose="05000000000000000000" pitchFamily="2" charset="2"/>
            </a:endParaRPr>
          </a:p>
          <a:p>
            <a:pPr marL="514350" lvl="1" indent="-285750"/>
            <a:r>
              <a:rPr lang="en-US" b="1" dirty="0">
                <a:sym typeface="Wingdings" panose="05000000000000000000" pitchFamily="2" charset="2"/>
              </a:rPr>
              <a:t>Predict Earth-Like Similarity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Exploratory Data Analysis (EDA):</a:t>
            </a:r>
          </a:p>
          <a:p>
            <a:pPr marL="514350" lvl="1" indent="-285750"/>
            <a:r>
              <a:rPr lang="en-US" b="1" dirty="0">
                <a:sym typeface="Wingdings" panose="05000000000000000000" pitchFamily="2" charset="2"/>
              </a:rPr>
              <a:t>Explore relationships </a:t>
            </a:r>
            <a:r>
              <a:rPr lang="en-US" dirty="0">
                <a:sym typeface="Wingdings" panose="05000000000000000000" pitchFamily="2" charset="2"/>
              </a:rPr>
              <a:t>between </a:t>
            </a:r>
            <a:r>
              <a:rPr lang="en-US" b="1" dirty="0">
                <a:sym typeface="Wingdings" panose="05000000000000000000" pitchFamily="2" charset="2"/>
              </a:rPr>
              <a:t>stellar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ym typeface="Wingdings" panose="05000000000000000000" pitchFamily="2" charset="2"/>
              </a:rPr>
              <a:t>planetary features</a:t>
            </a:r>
            <a:endParaRPr lang="en-US" dirty="0">
              <a:sym typeface="Wingdings" panose="05000000000000000000" pitchFamily="2" charset="2"/>
            </a:endParaRPr>
          </a:p>
          <a:p>
            <a:pPr marL="514350" lvl="1" indent="-285750"/>
            <a:r>
              <a:rPr lang="en-US" b="1" dirty="0">
                <a:sym typeface="Wingdings" panose="05000000000000000000" pitchFamily="2" charset="2"/>
              </a:rPr>
              <a:t>Categorize exoplanets</a:t>
            </a:r>
            <a:r>
              <a:rPr lang="en-US" dirty="0">
                <a:sym typeface="Wingdings" panose="05000000000000000000" pitchFamily="2" charset="2"/>
              </a:rPr>
              <a:t> based on </a:t>
            </a:r>
            <a:r>
              <a:rPr lang="en-US" b="1" dirty="0">
                <a:sym typeface="Wingdings" panose="05000000000000000000" pitchFamily="2" charset="2"/>
              </a:rPr>
              <a:t>Mass and Radius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Supervised Learning (1 Model):</a:t>
            </a:r>
            <a:endParaRPr lang="en-US" b="1" dirty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pPr marL="514350" lvl="1" indent="-285750"/>
            <a:r>
              <a:rPr lang="en-US" b="1" dirty="0">
                <a:sym typeface="Wingdings" panose="05000000000000000000" pitchFamily="2" charset="2"/>
              </a:rPr>
              <a:t>Identify top 10 Earth-Like exoplanets </a:t>
            </a:r>
            <a:r>
              <a:rPr lang="en-US" dirty="0">
                <a:sym typeface="Wingdings" panose="05000000000000000000" pitchFamily="2" charset="2"/>
              </a:rPr>
              <a:t>(Predefined target row Earth and Sun)</a:t>
            </a:r>
          </a:p>
          <a:p>
            <a:pPr marL="514350" lvl="1" indent="-285750"/>
            <a:r>
              <a:rPr lang="en-US" dirty="0">
                <a:sym typeface="Wingdings" panose="05000000000000000000" pitchFamily="2" charset="2"/>
              </a:rPr>
              <a:t>Evaluate their </a:t>
            </a:r>
            <a:r>
              <a:rPr lang="en-US" b="1" dirty="0">
                <a:sym typeface="Wingdings" panose="05000000000000000000" pitchFamily="2" charset="2"/>
              </a:rPr>
              <a:t>habitability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Unsupervised Learning (3 Models):</a:t>
            </a:r>
          </a:p>
          <a:p>
            <a:pPr marL="514350" lvl="1" indent="-285750"/>
            <a:r>
              <a:rPr lang="en-US" dirty="0">
                <a:sym typeface="Wingdings" panose="05000000000000000000" pitchFamily="2" charset="2"/>
              </a:rPr>
              <a:t>Determine </a:t>
            </a:r>
            <a:r>
              <a:rPr lang="en-US" b="1" dirty="0">
                <a:sym typeface="Wingdings" panose="05000000000000000000" pitchFamily="2" charset="2"/>
              </a:rPr>
              <a:t>natural planetary groupings </a:t>
            </a:r>
            <a:r>
              <a:rPr lang="en-US" dirty="0">
                <a:sym typeface="Wingdings" panose="05000000000000000000" pitchFamily="2" charset="2"/>
              </a:rPr>
              <a:t>(without predefined labels)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2B4ECD8-E89C-1C24-6DD1-D81167B4CF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2568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5DE3D-66BF-C855-2E6D-F0D136B4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1CA9AA-AA84-4E59-4E2F-D79CE2E7A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83" y="3041779"/>
            <a:ext cx="10302240" cy="1391113"/>
          </a:xfrm>
        </p:spPr>
        <p:txBody>
          <a:bodyPr/>
          <a:lstStyle/>
          <a:p>
            <a:pPr algn="ctr"/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37634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32" y="183178"/>
            <a:ext cx="5141168" cy="1524324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Background: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Stellar criteria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54832" y="1707502"/>
            <a:ext cx="5268686" cy="501053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Host stars are classified by their </a:t>
            </a:r>
            <a:r>
              <a:rPr lang="en-US" sz="1600" b="1" dirty="0"/>
              <a:t>star types</a:t>
            </a:r>
            <a:r>
              <a:rPr lang="en-US" sz="1600" dirty="0"/>
              <a:t>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 (Red Dwarf), K, </a:t>
            </a:r>
            <a:r>
              <a:rPr lang="en-US" sz="1600" b="1" dirty="0"/>
              <a:t>G (Sun-like), </a:t>
            </a:r>
            <a:r>
              <a:rPr lang="en-US" sz="1600" dirty="0"/>
              <a:t>F, A, B, or O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order of coldest to hottest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order of most lifetime to least lifetime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order of smallest to largest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Star types A, B, and O unlikely to host life due to short lifetimes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energy </a:t>
            </a:r>
            <a:r>
              <a:rPr lang="en-US" sz="1600" dirty="0">
                <a:sym typeface="Wingdings" panose="05000000000000000000" pitchFamily="2" charset="2"/>
              </a:rPr>
              <a:t> faster burn out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Star types M, K, G, and F are likely to sustain life due to longer lifetimes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Host stars are classified by their </a:t>
            </a:r>
            <a:r>
              <a:rPr lang="en-US" sz="1600" b="1" dirty="0"/>
              <a:t>luminosity class</a:t>
            </a:r>
            <a:r>
              <a:rPr lang="en-US" sz="1600" dirty="0"/>
              <a:t>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Main Sequence (V), </a:t>
            </a:r>
            <a:r>
              <a:rPr lang="en-US" sz="1600" dirty="0"/>
              <a:t>Sub-Giants (IV), Giants (III), Bright Giants (II), Super Giants (I), and White Dwarfs (WD)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More luminous </a:t>
            </a:r>
            <a:r>
              <a:rPr lang="en-US" sz="1600" dirty="0">
                <a:sym typeface="Wingdings" panose="05000000000000000000" pitchFamily="2" charset="2"/>
              </a:rPr>
              <a:t> brighter  more energy emitted  more radiation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 descr="G:\KEPLER DATA ANALYSIS-BU\KEPLER\Kepler Pics\Morgan-Keenan_spectral_classification.png">
            <a:extLst>
              <a:ext uri="{FF2B5EF4-FFF2-40B4-BE49-F238E27FC236}">
                <a16:creationId xmlns:a16="http://schemas.microsoft.com/office/drawing/2014/main" id="{C1E6D0D9-9569-FC38-C325-F17F7CC56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0" r="11150"/>
          <a:stretch>
            <a:fillRect/>
          </a:stretch>
        </p:blipFill>
        <p:spPr bwMode="auto">
          <a:xfrm>
            <a:off x="6824051" y="43219"/>
            <a:ext cx="4977706" cy="226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A9B8080E-2510-17E9-64E9-106604178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2" r="2489" b="8447"/>
          <a:stretch>
            <a:fillRect/>
          </a:stretch>
        </p:blipFill>
        <p:spPr bwMode="auto">
          <a:xfrm>
            <a:off x="7520475" y="2409811"/>
            <a:ext cx="3584858" cy="4404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7E4F-FFC4-DD71-C1B8-6C4FBEAD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BC88E-681A-694B-9471-78FB55876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05" y="681135"/>
            <a:ext cx="5222044" cy="1146434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Background: habitability criteria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32C20823-5657-65C3-D1CC-972E858743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0806" y="1996751"/>
            <a:ext cx="5016770" cy="39655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Star’s Habitable Zone (HZ):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Depends on the star type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Describes the optimal distance between the exoplanet and its host star </a:t>
            </a:r>
            <a:r>
              <a:rPr lang="en-US" dirty="0">
                <a:sym typeface="Wingdings" panose="05000000000000000000" pitchFamily="2" charset="2"/>
              </a:rPr>
              <a:t> needed for </a:t>
            </a:r>
            <a:r>
              <a:rPr lang="en-US" dirty="0"/>
              <a:t>liquid water </a:t>
            </a:r>
            <a:r>
              <a:rPr lang="en-US" dirty="0">
                <a:sym typeface="Wingdings" panose="05000000000000000000" pitchFamily="2" charset="2"/>
              </a:rPr>
              <a:t> to allow </a:t>
            </a:r>
            <a:r>
              <a:rPr lang="en-US" dirty="0"/>
              <a:t>habitability</a:t>
            </a:r>
          </a:p>
          <a:p>
            <a:pPr marL="685800" lvl="1" indent="0">
              <a:buNone/>
            </a:pP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Galactic Habitable Zone (GHZ):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Area within the Milky Way Galaxy with reduced radiation </a:t>
            </a:r>
            <a:r>
              <a:rPr lang="en-US" dirty="0">
                <a:sym typeface="Wingdings" panose="05000000000000000000" pitchFamily="2" charset="2"/>
              </a:rPr>
              <a:t> to allow habitability </a:t>
            </a:r>
            <a:endParaRPr lang="en-US" dirty="0"/>
          </a:p>
        </p:txBody>
      </p:sp>
      <p:pic>
        <p:nvPicPr>
          <p:cNvPr id="3" name="Picture 5" descr="G:\KEPLER DATA ANALYSIS-BU\KEPLER\24-15_anno.jpg">
            <a:extLst>
              <a:ext uri="{FF2B5EF4-FFF2-40B4-BE49-F238E27FC236}">
                <a16:creationId xmlns:a16="http://schemas.microsoft.com/office/drawing/2014/main" id="{E815085D-51B4-F747-407F-CD69B61C5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1889" y="95005"/>
            <a:ext cx="4195665" cy="231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C:\Users\student\Desktop\Habitable.png">
            <a:extLst>
              <a:ext uri="{FF2B5EF4-FFF2-40B4-BE49-F238E27FC236}">
                <a16:creationId xmlns:a16="http://schemas.microsoft.com/office/drawing/2014/main" id="{186D7AC9-AF0B-652A-E224-62CFC683E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1889" y="2501220"/>
            <a:ext cx="4195665" cy="14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ndefined">
            <a:extLst>
              <a:ext uri="{FF2B5EF4-FFF2-40B4-BE49-F238E27FC236}">
                <a16:creationId xmlns:a16="http://schemas.microsoft.com/office/drawing/2014/main" id="{332E75AF-FD16-945A-9F8B-3818D9A95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737" y="4055537"/>
            <a:ext cx="2789967" cy="270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29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8863-9860-79B5-3322-58AA7CC7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572105-1EDC-F3F0-5ACD-B4F43738E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83" y="3041779"/>
            <a:ext cx="10302240" cy="1391113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50392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4AF3-683B-ABE1-206E-0242598E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1701-F965-9DCF-AA46-9BFBD825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809" y="640080"/>
            <a:ext cx="7498080" cy="1280160"/>
          </a:xfrm>
        </p:spPr>
        <p:txBody>
          <a:bodyPr/>
          <a:lstStyle/>
          <a:p>
            <a:r>
              <a:rPr lang="en-US" dirty="0"/>
              <a:t>Methodology: Initial Data Cleaning</a:t>
            </a:r>
          </a:p>
        </p:txBody>
      </p:sp>
      <p:pic>
        <p:nvPicPr>
          <p:cNvPr id="9" name="Picture Placeholder 8" descr="Computer script on a screen">
            <a:extLst>
              <a:ext uri="{FF2B5EF4-FFF2-40B4-BE49-F238E27FC236}">
                <a16:creationId xmlns:a16="http://schemas.microsoft.com/office/drawing/2014/main" id="{25F60E04-7D0F-62CB-3356-D1A70AA193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00" y="836394"/>
            <a:ext cx="2833131" cy="28331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8761B5-0AC2-ABCA-4E71-B1C85B0DA2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487"/>
          <a:stretch>
            <a:fillRect/>
          </a:stretch>
        </p:blipFill>
        <p:spPr>
          <a:xfrm>
            <a:off x="4021494" y="2043404"/>
            <a:ext cx="8666611" cy="3929697"/>
          </a:xfrm>
          <a:prstGeom prst="rect">
            <a:avLst/>
          </a:prstGeom>
        </p:spPr>
      </p:pic>
      <p:sp>
        <p:nvSpPr>
          <p:cNvPr id="11" name="Arc 10">
            <a:extLst>
              <a:ext uri="{FF2B5EF4-FFF2-40B4-BE49-F238E27FC236}">
                <a16:creationId xmlns:a16="http://schemas.microsoft.com/office/drawing/2014/main" id="{0EB1C625-3E4A-5CDC-853E-65387AC1C86F}"/>
              </a:ext>
            </a:extLst>
          </p:cNvPr>
          <p:cNvSpPr/>
          <p:nvPr/>
        </p:nvSpPr>
        <p:spPr>
          <a:xfrm rot="9429591">
            <a:off x="944239" y="1275671"/>
            <a:ext cx="2773451" cy="2525156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0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AC7B-2806-8138-BB1B-FA0E61E3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736" y="59572"/>
            <a:ext cx="8359342" cy="1287624"/>
          </a:xfrm>
        </p:spPr>
        <p:txBody>
          <a:bodyPr/>
          <a:lstStyle/>
          <a:p>
            <a:r>
              <a:rPr lang="en-US" dirty="0"/>
              <a:t>Methodology: Outliers &amp; duplicate rows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7870C-B806-B6DA-F3A6-C820AF4584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619"/>
          <a:stretch>
            <a:fillRect/>
          </a:stretch>
        </p:blipFill>
        <p:spPr>
          <a:xfrm>
            <a:off x="3947736" y="1347196"/>
            <a:ext cx="7977363" cy="398776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505E89-AEED-3820-3B59-1C42F456C83D}"/>
              </a:ext>
            </a:extLst>
          </p:cNvPr>
          <p:cNvCxnSpPr>
            <a:cxnSpLocks/>
          </p:cNvCxnSpPr>
          <p:nvPr/>
        </p:nvCxnSpPr>
        <p:spPr>
          <a:xfrm>
            <a:off x="737119" y="-22251"/>
            <a:ext cx="0" cy="685800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F8852-0E93-B023-5A97-6544AD198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29" y="-22252"/>
            <a:ext cx="3828678" cy="69510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34BDBD-6EEE-C961-3431-0592A719B8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47736" y="5298528"/>
            <a:ext cx="4090068" cy="149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6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0288-6287-B43B-ED37-CBCB6D47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3153-BA3C-D544-80DD-84BABDF8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849" y="395090"/>
            <a:ext cx="8245151" cy="1237767"/>
          </a:xfrm>
        </p:spPr>
        <p:txBody>
          <a:bodyPr/>
          <a:lstStyle/>
          <a:p>
            <a:r>
              <a:rPr lang="en-US" sz="3200" dirty="0"/>
              <a:t>Methodology: Final Data Cleaning &amp; dataset description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32D2B-DCDE-0764-1642-0339E5E87F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42792" y="1735493"/>
            <a:ext cx="6985868" cy="4198776"/>
          </a:xfrm>
          <a:prstGeom prst="rect">
            <a:avLst/>
          </a:prstGeom>
        </p:spPr>
      </p:pic>
      <p:pic>
        <p:nvPicPr>
          <p:cNvPr id="1026" name="Picture 2" descr="Under the Wing of a Dwarf Galaxy (NASA, Chandra, 04/03/13)… | Flickr">
            <a:extLst>
              <a:ext uri="{FF2B5EF4-FFF2-40B4-BE49-F238E27FC236}">
                <a16:creationId xmlns:a16="http://schemas.microsoft.com/office/drawing/2014/main" id="{727A066A-BC04-4657-C58D-720C79081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7658" y="0"/>
            <a:ext cx="376729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DF9F15-03BD-7340-AE92-EF6F1BC88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38563"/>
              </p:ext>
            </p:extLst>
          </p:nvPr>
        </p:nvGraphicFramePr>
        <p:xfrm>
          <a:off x="293111" y="410547"/>
          <a:ext cx="3125755" cy="6168355"/>
        </p:xfrm>
        <a:graphic>
          <a:graphicData uri="http://schemas.openxmlformats.org/drawingml/2006/table">
            <a:tbl>
              <a:tblPr firstRow="1" firstCol="1" bandRow="1">
                <a:tableStyleId>{775DCB02-9BB8-47FD-8907-85C794F793BA}</a:tableStyleId>
              </a:tblPr>
              <a:tblGrid>
                <a:gridCol w="3125755">
                  <a:extLst>
                    <a:ext uri="{9D8B030D-6E8A-4147-A177-3AD203B41FA5}">
                      <a16:colId xmlns:a16="http://schemas.microsoft.com/office/drawing/2014/main" val="2656973296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Variable Name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48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535073"/>
                  </a:ext>
                </a:extLst>
              </a:tr>
              <a:tr h="4391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Planet Name          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80065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Star Number Per System  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3195167"/>
                  </a:ext>
                </a:extLst>
              </a:tr>
              <a:tr h="4201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Orbital Period     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859595"/>
                  </a:ext>
                </a:extLst>
              </a:tr>
              <a:tr h="402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Orbital Semi Major Axis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8640518"/>
                  </a:ext>
                </a:extLst>
              </a:tr>
              <a:tr h="3655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Planet Radius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84047"/>
                  </a:ext>
                </a:extLst>
              </a:tr>
              <a:tr h="4387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Planet Mass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864568"/>
                  </a:ext>
                </a:extLst>
              </a:tr>
              <a:tr h="3655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Planet Equilibrium Temperature  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852953"/>
                  </a:ext>
                </a:extLst>
              </a:tr>
              <a:tr h="386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Spectral Type         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1286544"/>
                  </a:ext>
                </a:extLst>
              </a:tr>
              <a:tr h="3655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Stellar Effective Temperature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550330"/>
                  </a:ext>
                </a:extLst>
              </a:tr>
              <a:tr h="3957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Stellar Radius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361478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Stellar Mass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833856"/>
                  </a:ext>
                </a:extLst>
              </a:tr>
              <a:tr h="4088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Stellar Surface Gravity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2362231"/>
                  </a:ext>
                </a:extLst>
              </a:tr>
              <a:tr h="3655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Stellar Luminosity 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51341"/>
                  </a:ext>
                </a:extLst>
              </a:tr>
              <a:tr h="3655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Planetary Orbital Velocity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641687"/>
                  </a:ext>
                </a:extLst>
              </a:tr>
              <a:tr h="3664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Habitable Zone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746" marR="5474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662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7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9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EB84-2DC2-6D41-96DA-3AE641B3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5933-A4E3-7680-8344-55EF67B5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9" y="229533"/>
            <a:ext cx="7940349" cy="899471"/>
          </a:xfrm>
        </p:spPr>
        <p:txBody>
          <a:bodyPr/>
          <a:lstStyle/>
          <a:p>
            <a:r>
              <a:rPr lang="en-US" dirty="0"/>
              <a:t>Methodology: K Nearest Neighbor (KNN)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8DF61-55E8-29EA-A015-8B17BCA5D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9" y="1268963"/>
            <a:ext cx="7940351" cy="545840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Supervised Learning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Predefined target row corresponding </a:t>
            </a:r>
            <a:r>
              <a:rPr lang="en-US" dirty="0"/>
              <a:t>to </a:t>
            </a:r>
            <a:r>
              <a:rPr lang="en-US" b="1" dirty="0"/>
              <a:t>synthetic “Earth” reference point </a:t>
            </a:r>
            <a:r>
              <a:rPr lang="en-US" dirty="0"/>
              <a:t>in feature space.</a:t>
            </a:r>
          </a:p>
          <a:p>
            <a:pPr marL="514350" lvl="1" indent="-285750"/>
            <a:r>
              <a:rPr lang="en-US" dirty="0"/>
              <a:t>Used to </a:t>
            </a:r>
            <a:r>
              <a:rPr lang="en-US" b="1" dirty="0"/>
              <a:t>compare all planetary and stellar features </a:t>
            </a:r>
            <a:r>
              <a:rPr lang="en-US" dirty="0"/>
              <a:t>of all exoplanets </a:t>
            </a:r>
            <a:r>
              <a:rPr lang="en-US" b="1" dirty="0"/>
              <a:t>to Earth and the Sun</a:t>
            </a:r>
            <a:r>
              <a:rPr lang="en-US" dirty="0"/>
              <a:t> respectively.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</a:t>
            </a:r>
            <a:r>
              <a:rPr lang="en-US" b="1" dirty="0"/>
              <a:t>produce a list of the top 10 Earth-Like exoplanets </a:t>
            </a:r>
            <a:r>
              <a:rPr lang="en-US" dirty="0"/>
              <a:t>and insight into their </a:t>
            </a:r>
            <a:r>
              <a:rPr lang="en-US" b="1" dirty="0"/>
              <a:t>habitability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Similarity measured via distance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smaller distance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closer to Earth in feature space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more Earth-Like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preprocessing:</a:t>
            </a:r>
          </a:p>
          <a:p>
            <a:pPr marL="514350" lvl="1" indent="-285750"/>
            <a:r>
              <a:rPr lang="en-US" dirty="0"/>
              <a:t>One-hot encoding for categorical features </a:t>
            </a:r>
          </a:p>
          <a:p>
            <a:pPr marL="514350" lvl="1" indent="-285750"/>
            <a:r>
              <a:rPr lang="en-US" dirty="0"/>
              <a:t>Feature normalization and scaling</a:t>
            </a:r>
          </a:p>
          <a:p>
            <a:pPr marL="514350" lvl="1" indent="-285750"/>
            <a:r>
              <a:rPr lang="en-US" b="1" dirty="0"/>
              <a:t>Heavier weights </a:t>
            </a:r>
            <a:r>
              <a:rPr lang="en-US" dirty="0"/>
              <a:t>applied to </a:t>
            </a:r>
            <a:r>
              <a:rPr lang="en-US" b="1" dirty="0"/>
              <a:t>features important for determining Earth-Like similarity </a:t>
            </a:r>
            <a:r>
              <a:rPr lang="en-US" dirty="0"/>
              <a:t>and</a:t>
            </a:r>
            <a:r>
              <a:rPr lang="en-US" b="1" dirty="0"/>
              <a:t> habitability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KNN models using two distance metrics for robustness:</a:t>
            </a:r>
          </a:p>
          <a:p>
            <a:pPr marL="514350" lvl="1" indent="-285750"/>
            <a:r>
              <a:rPr lang="en-US" b="1" dirty="0"/>
              <a:t>KNN Model #1 - Manhattan distance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considers similarity for all features combined</a:t>
            </a:r>
          </a:p>
          <a:p>
            <a:pPr marL="514350" lvl="1" indent="-285750"/>
            <a:r>
              <a:rPr lang="en-US" b="1" dirty="0"/>
              <a:t>KNN Model #2 - Euclidean distance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sensitive to deviations between a feature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8F3FEF-525B-225C-1862-2CDD47CF7A13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72737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Understanding K-Nearest Neighbor (KNN): A Quick Overview | by Algorithm  Alchemist | Medium">
            <a:extLst>
              <a:ext uri="{FF2B5EF4-FFF2-40B4-BE49-F238E27FC236}">
                <a16:creationId xmlns:a16="http://schemas.microsoft.com/office/drawing/2014/main" id="{DA278C63-C8E8-172A-7FDE-6629CC117A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927" y="1875453"/>
            <a:ext cx="3629608" cy="358295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47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C49C-842A-CBE4-261A-CD2EB3A0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C0E9-9443-8F2C-02E8-239637C4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037" y="358295"/>
            <a:ext cx="10595843" cy="1280160"/>
          </a:xfrm>
        </p:spPr>
        <p:txBody>
          <a:bodyPr/>
          <a:lstStyle/>
          <a:p>
            <a:r>
              <a:rPr lang="en-US" dirty="0"/>
              <a:t>Methodology: K Means Clustering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94E0-F28F-8A90-7B8C-90D1CD06F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1" y="1756020"/>
            <a:ext cx="10595843" cy="4924697"/>
          </a:xfrm>
        </p:spPr>
        <p:txBody>
          <a:bodyPr/>
          <a:lstStyle/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700" b="1" dirty="0"/>
              <a:t>Unsupervised learning </a:t>
            </a: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b="1" dirty="0"/>
              <a:t>Identify natural groupings of exoplanets into their planetary systems </a:t>
            </a:r>
            <a:r>
              <a:rPr lang="en-US" sz="1700" dirty="0"/>
              <a:t>without predefined labels.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Model </a:t>
            </a:r>
            <a:r>
              <a:rPr lang="en-US" sz="1700" b="1" dirty="0"/>
              <a:t>applied to the top 10 Earth-like planets </a:t>
            </a:r>
            <a:r>
              <a:rPr lang="en-US" sz="1700" dirty="0"/>
              <a:t>(from KNN Models #1 and #2) to </a:t>
            </a:r>
            <a:r>
              <a:rPr lang="en-US" sz="1700" b="1" dirty="0"/>
              <a:t>determine their cluster membership </a:t>
            </a:r>
            <a:r>
              <a:rPr lang="en-US" sz="1700" dirty="0"/>
              <a:t>(planetary system)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Partitions data into k clusters by minimizing within-cluster variance (focus on feature similarity)</a:t>
            </a:r>
          </a:p>
          <a:p>
            <a:pPr marL="514343" lvl="1" indent="-285743">
              <a:defRPr/>
            </a:pPr>
            <a:r>
              <a:rPr lang="en-US" sz="1700" dirty="0"/>
              <a:t>Number of clusters: k = 4 clusters</a:t>
            </a:r>
          </a:p>
          <a:p>
            <a:pPr marL="514343" lvl="1" indent="-285743">
              <a:defRPr/>
            </a:pPr>
            <a:r>
              <a:rPr lang="en-US" sz="1700" b="1" dirty="0"/>
              <a:t>Assumes clusters have spherical shape and all have same size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Reveals underlying structure in exoplanet populations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Data preprocessing:</a:t>
            </a:r>
          </a:p>
          <a:p>
            <a:pPr marL="654034" lvl="1" indent="-285743">
              <a:defRPr/>
            </a:pPr>
            <a:r>
              <a:rPr lang="en-US" sz="1700" dirty="0"/>
              <a:t>One-hot encoding for categorical features </a:t>
            </a:r>
          </a:p>
          <a:p>
            <a:pPr marL="654034" lvl="1" indent="-285743">
              <a:defRPr/>
            </a:pPr>
            <a:r>
              <a:rPr lang="en-US" sz="1700" dirty="0"/>
              <a:t>Feature normalization and scaling</a:t>
            </a:r>
          </a:p>
          <a:p>
            <a:pPr marL="654034" lvl="1" indent="-285743">
              <a:defRPr/>
            </a:pPr>
            <a:r>
              <a:rPr lang="en-US" sz="1700" dirty="0"/>
              <a:t>Removed outlier planets </a:t>
            </a:r>
          </a:p>
          <a:p>
            <a:pPr marL="368291" lvl="1" indent="0">
              <a:buNone/>
              <a:defRPr/>
            </a:pPr>
            <a:r>
              <a:rPr lang="en-US" sz="1700" dirty="0"/>
              <a:t>     (planets with extreme anomalous values)</a:t>
            </a:r>
          </a:p>
        </p:txBody>
      </p:sp>
      <p:pic>
        <p:nvPicPr>
          <p:cNvPr id="4100" name="Picture 4" descr="K-Means Clustering With RStudio. Grouping the number of teachers… | by  DWIRANY PUSPITASARI JENNIFER - | Medium">
            <a:extLst>
              <a:ext uri="{FF2B5EF4-FFF2-40B4-BE49-F238E27FC236}">
                <a16:creationId xmlns:a16="http://schemas.microsoft.com/office/drawing/2014/main" id="{80166F63-020B-CAE1-0FAB-DA91454EB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3518" y="4387355"/>
            <a:ext cx="5786224" cy="241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12D756-C153-06F6-5320-8309F93BBBEA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72737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994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39BD-B1A8-C8CD-02C2-FC021F5B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aussian Mixture Model Algorithm. Introduction Identifying patterns and… |  by Hitanshl Isme | Medium">
            <a:extLst>
              <a:ext uri="{FF2B5EF4-FFF2-40B4-BE49-F238E27FC236}">
                <a16:creationId xmlns:a16="http://schemas.microsoft.com/office/drawing/2014/main" id="{1B758597-F554-A775-CD11-D18F349CF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94333" y="2053950"/>
            <a:ext cx="3670791" cy="19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aussian Mixture Model (GMM): A Clustering Method | by S. Moazeni, PhD |  Medium">
            <a:extLst>
              <a:ext uri="{FF2B5EF4-FFF2-40B4-BE49-F238E27FC236}">
                <a16:creationId xmlns:a16="http://schemas.microsoft.com/office/drawing/2014/main" id="{CC78E124-1131-2FD9-B534-7228DDE03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11311" y="4153209"/>
            <a:ext cx="3036834" cy="257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B9E7C1-F707-F117-48F4-93CB8D70CDD5}"/>
              </a:ext>
            </a:extLst>
          </p:cNvPr>
          <p:cNvSpPr/>
          <p:nvPr/>
        </p:nvSpPr>
        <p:spPr>
          <a:xfrm>
            <a:off x="2883159" y="606490"/>
            <a:ext cx="699796" cy="55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BFF75-600D-6157-7FAE-1F00EA98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3" y="18113"/>
            <a:ext cx="11131421" cy="1146448"/>
          </a:xfrm>
        </p:spPr>
        <p:txBody>
          <a:bodyPr/>
          <a:lstStyle/>
          <a:p>
            <a:r>
              <a:rPr lang="en-US" sz="3200" dirty="0"/>
              <a:t>Methodology: Gaussian Mixture Model (GMM)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11197-21BC-D6EE-9A20-7D3636CDA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3" y="672353"/>
            <a:ext cx="7582680" cy="616753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b="1" dirty="0"/>
              <a:t>Unsupervised learning </a:t>
            </a:r>
            <a:r>
              <a:rPr lang="en-US" sz="1650" dirty="0">
                <a:sym typeface="Wingdings" panose="05000000000000000000" pitchFamily="2" charset="2"/>
              </a:rPr>
              <a:t> </a:t>
            </a:r>
            <a:r>
              <a:rPr lang="en-US" sz="1650" b="1" dirty="0"/>
              <a:t>Identify natural groupings of exoplanets into their planetary systems </a:t>
            </a:r>
            <a:r>
              <a:rPr lang="en-US" sz="1650" dirty="0"/>
              <a:t>without predefined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Model </a:t>
            </a:r>
            <a:r>
              <a:rPr lang="en-US" sz="1650" b="1" dirty="0"/>
              <a:t>applied to the top 10 Earth-like planets </a:t>
            </a:r>
            <a:r>
              <a:rPr lang="en-US" sz="1650" dirty="0"/>
              <a:t>(from KNN Models #1 and #2) to </a:t>
            </a:r>
            <a:r>
              <a:rPr lang="en-US" sz="1650" b="1" dirty="0"/>
              <a:t>determine their cluster membership </a:t>
            </a:r>
            <a:r>
              <a:rPr lang="en-US" sz="1650" dirty="0"/>
              <a:t>(planetary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Applied GMM clustering to capture </a:t>
            </a:r>
            <a:r>
              <a:rPr lang="en-US" sz="1650" b="1" dirty="0"/>
              <a:t>more flexible, overlapping, and complex exoplanet groupings.</a:t>
            </a:r>
          </a:p>
          <a:p>
            <a:pPr marL="514350" lvl="1" indent="-285750"/>
            <a:r>
              <a:rPr lang="en-US" sz="1650" b="1" dirty="0"/>
              <a:t>Does not assume spherical shape nor same sized clustered</a:t>
            </a:r>
          </a:p>
          <a:p>
            <a:pPr marL="514350" lvl="1" indent="-285750"/>
            <a:r>
              <a:rPr lang="en-US" sz="1650" dirty="0"/>
              <a:t>Allows for elliptical shaped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Partitions data into k number of distinct Gaussian distributions</a:t>
            </a:r>
          </a:p>
          <a:p>
            <a:pPr marL="514350" lvl="1" indent="-285750"/>
            <a:r>
              <a:rPr lang="en-US" sz="1650" dirty="0"/>
              <a:t>Number of clusters: k = 4 clusters</a:t>
            </a:r>
          </a:p>
          <a:p>
            <a:pPr marL="514350" lvl="1" indent="-285750"/>
            <a:r>
              <a:rPr lang="en-US" sz="1650" dirty="0"/>
              <a:t>GMM models probabilistic clusters (planetary systems)</a:t>
            </a:r>
          </a:p>
          <a:p>
            <a:pPr marL="514350" lvl="1" indent="-285750"/>
            <a:r>
              <a:rPr lang="en-US" sz="1650" dirty="0"/>
              <a:t>Specific datapoint (exoplanet) has different probabilities of belonging to different planet</a:t>
            </a:r>
          </a:p>
          <a:p>
            <a:pPr marL="514350" lvl="1" indent="-285750"/>
            <a:r>
              <a:rPr lang="en-US" sz="1650" dirty="0"/>
              <a:t>The cluster with the highest probably is the assigned cluster of data datapoint (exoplanet)</a:t>
            </a:r>
          </a:p>
          <a:p>
            <a:pPr marL="514350" lvl="1" indent="-285750"/>
            <a:r>
              <a:rPr lang="en-US" sz="1650" b="1" dirty="0"/>
              <a:t>Assumes data is normally distributed </a:t>
            </a:r>
            <a:endParaRPr lang="en-US" sz="1650" dirty="0"/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650" dirty="0"/>
              <a:t>Data preprocessing:</a:t>
            </a:r>
          </a:p>
          <a:p>
            <a:pPr marL="654034" lvl="1" indent="-285743">
              <a:defRPr/>
            </a:pPr>
            <a:r>
              <a:rPr lang="en-US" sz="1650" dirty="0"/>
              <a:t>One-hot encoding for categorical features </a:t>
            </a:r>
          </a:p>
          <a:p>
            <a:pPr marL="654034" lvl="1" indent="-285743">
              <a:defRPr/>
            </a:pPr>
            <a:r>
              <a:rPr lang="en-US" sz="1650" dirty="0"/>
              <a:t>Feature normalization and scaling</a:t>
            </a:r>
          </a:p>
          <a:p>
            <a:pPr marL="654034" lvl="1" indent="-285743">
              <a:defRPr/>
            </a:pPr>
            <a:r>
              <a:rPr lang="en-US" sz="1650" dirty="0"/>
              <a:t>Removed outlier planets (planets with extreme anomalous values)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8B8610-2319-D933-C9B4-01E53A11E9DD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72737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566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6773-4C52-C384-FFAD-FD54F5C2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3B7F-D7C2-72BE-1EA0-4D059ABE9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745" y="0"/>
            <a:ext cx="7691221" cy="2099388"/>
          </a:xfrm>
        </p:spPr>
        <p:txBody>
          <a:bodyPr/>
          <a:lstStyle/>
          <a:p>
            <a:r>
              <a:rPr lang="en-US" sz="3200" dirty="0"/>
              <a:t>Methodology: Hierarchical Density-Based Spatial Clustering of Applications with Noise (HBDSCAN)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1B672-273A-A062-A2DB-AE43E1AE2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5" y="2194559"/>
            <a:ext cx="7781727" cy="44954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b="1" dirty="0"/>
              <a:t>Unsupervised learning </a:t>
            </a:r>
            <a:r>
              <a:rPr lang="en-US" sz="1650" dirty="0">
                <a:sym typeface="Wingdings" panose="05000000000000000000" pitchFamily="2" charset="2"/>
              </a:rPr>
              <a:t> </a:t>
            </a:r>
            <a:r>
              <a:rPr lang="en-US" sz="1650" b="1" dirty="0"/>
              <a:t>Identify natural groupings of exoplanets into their planetary systems </a:t>
            </a:r>
            <a:r>
              <a:rPr lang="en-US" sz="1650" dirty="0"/>
              <a:t>without predefined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Model </a:t>
            </a:r>
            <a:r>
              <a:rPr lang="en-US" sz="1650" b="1" dirty="0"/>
              <a:t>applied to the top 10 Earth-like planets </a:t>
            </a:r>
            <a:r>
              <a:rPr lang="en-US" sz="1650" dirty="0"/>
              <a:t>(from KNN Models #1 and #2) to </a:t>
            </a:r>
            <a:r>
              <a:rPr lang="en-US" sz="1650" b="1" dirty="0"/>
              <a:t>determine their cluster membership </a:t>
            </a:r>
            <a:r>
              <a:rPr lang="en-US" sz="1650" dirty="0"/>
              <a:t>(planetary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/>
              <a:t>Applied HDBSCAN to identify clusters of </a:t>
            </a:r>
            <a:r>
              <a:rPr lang="en-US" sz="1650" b="1" dirty="0"/>
              <a:t>varying density while automatically identifying and removing noise/outlier planets. </a:t>
            </a:r>
          </a:p>
          <a:p>
            <a:pPr marL="514350" lvl="1" indent="-285750"/>
            <a:r>
              <a:rPr lang="en-US" sz="1650" dirty="0"/>
              <a:t>Does not assume a shape and size of cluster nor distribution of data</a:t>
            </a:r>
          </a:p>
          <a:p>
            <a:pPr marL="514350" lvl="1" indent="-285750"/>
            <a:r>
              <a:rPr lang="en-US" sz="1650" dirty="0"/>
              <a:t>Detects clusters of different shapes and densities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650" dirty="0"/>
              <a:t>Partitions data into hierarchy of clusters, separating them from sparse noise/outliers, and selecting the most stable clusters</a:t>
            </a:r>
          </a:p>
          <a:p>
            <a:pPr marL="514343" lvl="1" indent="-285743">
              <a:defRPr/>
            </a:pPr>
            <a:r>
              <a:rPr lang="en-US" sz="1650" dirty="0"/>
              <a:t>Dense regions represent a specific cluster (planetary system)</a:t>
            </a:r>
          </a:p>
          <a:p>
            <a:pPr marL="285743" indent="-285743">
              <a:buFont typeface="Arial" panose="020B0604020202020204" pitchFamily="34" charset="0"/>
              <a:buChar char="•"/>
              <a:defRPr/>
            </a:pPr>
            <a:r>
              <a:rPr lang="en-US" sz="1650" dirty="0"/>
              <a:t>Data preprocessing:</a:t>
            </a:r>
          </a:p>
          <a:p>
            <a:pPr marL="654034" lvl="1" indent="-285743">
              <a:defRPr/>
            </a:pPr>
            <a:r>
              <a:rPr lang="en-US" sz="1650" dirty="0"/>
              <a:t>One-hot encoding for categorical features </a:t>
            </a:r>
          </a:p>
          <a:p>
            <a:pPr marL="654034" lvl="1" indent="-285743">
              <a:defRPr/>
            </a:pPr>
            <a:r>
              <a:rPr lang="en-US" sz="1650" dirty="0"/>
              <a:t>Feature normalization and scaling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DFD78A-9913-62F2-1810-8EC34A0B371D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72737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A gentle introduction to HDBSCAN and density-based clustering">
            <a:extLst>
              <a:ext uri="{FF2B5EF4-FFF2-40B4-BE49-F238E27FC236}">
                <a16:creationId xmlns:a16="http://schemas.microsoft.com/office/drawing/2014/main" id="{AC8D81AD-6E1D-124E-1F21-5BE2A70C7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28" y="619125"/>
            <a:ext cx="3819330" cy="2809875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 gentle introduction to HDBSCAN and density-based clustering">
            <a:extLst>
              <a:ext uri="{FF2B5EF4-FFF2-40B4-BE49-F238E27FC236}">
                <a16:creationId xmlns:a16="http://schemas.microsoft.com/office/drawing/2014/main" id="{BC63FF17-D0ED-56B6-FD01-91B9CAEFB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27" y="3673248"/>
            <a:ext cx="3819331" cy="2809875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794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EB73-6D44-635A-3F24-66C75885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C6E6E-6C47-1C14-8B98-8DE1A9737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83" y="2580847"/>
            <a:ext cx="10302240" cy="1852046"/>
          </a:xfrm>
        </p:spPr>
        <p:txBody>
          <a:bodyPr/>
          <a:lstStyle/>
          <a:p>
            <a:pPr algn="ctr"/>
            <a:r>
              <a:rPr lang="en-US" dirty="0"/>
              <a:t>Exploratory Data Analysis (EDA) results</a:t>
            </a:r>
          </a:p>
        </p:txBody>
      </p:sp>
    </p:spTree>
    <p:extLst>
      <p:ext uri="{BB962C8B-B14F-4D97-AF65-F5344CB8AC3E}">
        <p14:creationId xmlns:p14="http://schemas.microsoft.com/office/powerpoint/2010/main" val="250649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5EE88DF-952B-158A-85AA-EAF846E4C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8025" y="0"/>
            <a:ext cx="8235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9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3636-B49A-8E0C-19D1-9FB4DA74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50521DF-4C49-E177-3EFD-4592F1C1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8025" y="0"/>
            <a:ext cx="8235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237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1669-3AA8-5D4D-1916-C02BE2BB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1A9FA7B-7334-5581-1E73-590371430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72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4878-404B-8A16-0A07-CE8C267F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45889F2-F8B0-FBEF-CB91-3AE70ED22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169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D188-847E-16F8-1247-BF00AF73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2FD6F4C-3B59-5CC8-F760-F53C032AB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713" y="0"/>
            <a:ext cx="9932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01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2BDB-0999-FAF4-48DB-BA721FD2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E20DD81-0EA6-3305-2832-95B61AE0B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3950" y="0"/>
            <a:ext cx="9944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40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283A-6384-72DD-E723-CFBE8CA4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734DBEA4-0959-8D4A-C00B-D1ED8BFA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188" y="0"/>
            <a:ext cx="10715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245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83" y="3163077"/>
            <a:ext cx="10302240" cy="1269815"/>
          </a:xfrm>
        </p:spPr>
        <p:txBody>
          <a:bodyPr/>
          <a:lstStyle/>
          <a:p>
            <a:pPr algn="ctr"/>
            <a:r>
              <a:rPr lang="en-US" dirty="0"/>
              <a:t>Modeling results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94C5-3E87-56C9-C850-1EEE1C3D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B2CE6C4D-197F-FF2E-F825-B572CB318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598" y="1067058"/>
            <a:ext cx="5835178" cy="579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934D4C-6D33-7368-6627-9B88A1FA7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75688"/>
              </p:ext>
            </p:extLst>
          </p:nvPr>
        </p:nvGraphicFramePr>
        <p:xfrm>
          <a:off x="6704977" y="948354"/>
          <a:ext cx="4988768" cy="58036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01217">
                  <a:extLst>
                    <a:ext uri="{9D8B030D-6E8A-4147-A177-3AD203B41FA5}">
                      <a16:colId xmlns:a16="http://schemas.microsoft.com/office/drawing/2014/main" val="2104744092"/>
                    </a:ext>
                  </a:extLst>
                </a:gridCol>
                <a:gridCol w="1267985">
                  <a:extLst>
                    <a:ext uri="{9D8B030D-6E8A-4147-A177-3AD203B41FA5}">
                      <a16:colId xmlns:a16="http://schemas.microsoft.com/office/drawing/2014/main" val="850957164"/>
                    </a:ext>
                  </a:extLst>
                </a:gridCol>
                <a:gridCol w="1028694">
                  <a:extLst>
                    <a:ext uri="{9D8B030D-6E8A-4147-A177-3AD203B41FA5}">
                      <a16:colId xmlns:a16="http://schemas.microsoft.com/office/drawing/2014/main" val="4227971008"/>
                    </a:ext>
                  </a:extLst>
                </a:gridCol>
                <a:gridCol w="1258284">
                  <a:extLst>
                    <a:ext uri="{9D8B030D-6E8A-4147-A177-3AD203B41FA5}">
                      <a16:colId xmlns:a16="http://schemas.microsoft.com/office/drawing/2014/main" val="3668668694"/>
                    </a:ext>
                  </a:extLst>
                </a:gridCol>
                <a:gridCol w="1032588">
                  <a:extLst>
                    <a:ext uri="{9D8B030D-6E8A-4147-A177-3AD203B41FA5}">
                      <a16:colId xmlns:a16="http://schemas.microsoft.com/office/drawing/2014/main" val="3810839358"/>
                    </a:ext>
                  </a:extLst>
                </a:gridCol>
              </a:tblGrid>
              <a:tr h="368707"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>
                          <a:effectLst/>
                        </a:rPr>
                        <a:t>Top 10 Earth-Like Exoplanets KNN Model Comparison</a:t>
                      </a:r>
                      <a:endParaRPr lang="en-US" sz="15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1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096607"/>
                  </a:ext>
                </a:extLst>
              </a:tr>
              <a:tr h="5348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Rank  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KNN Model #1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Manhattan Distance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KNN Model #2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Euclidean Distance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7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815564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Kepler-452 b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10.1463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Kepler-452 b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5.2408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794241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Kepler-1638 b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16.6309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Kepler-1638 b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7.1452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16471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Kepler-51 e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16.7816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Kepler-51 e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7.7652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085677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Kepler-1606 b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19.284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Kepler-1606 b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8.2007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22369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Kepler-1701 b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20.1409</a:t>
                      </a:r>
                      <a:endParaRPr lang="en-US" sz="1800" b="1" kern="1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Kepler-1701 b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8.466</a:t>
                      </a:r>
                      <a:endParaRPr lang="en-US" sz="1800" b="1" kern="1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593386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Kepler-22 b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20.8885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Kepler-1126 c 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9.4643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53558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Kepler-1126 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22.4542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Kepler-69 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9.9627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887206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Kepler-1549 b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22.9228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Kepler-1185 b 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10.35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453233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Kepler-1690 b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23.2328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Kepler-442 b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10.3699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868692"/>
                  </a:ext>
                </a:extLst>
              </a:tr>
              <a:tr h="490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Kepler-69 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23.5054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Kepler-311 d 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10.3847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178593"/>
                  </a:ext>
                </a:extLst>
              </a:tr>
            </a:tbl>
          </a:graphicData>
        </a:graphic>
      </p:graphicFrame>
      <p:sp>
        <p:nvSpPr>
          <p:cNvPr id="20" name="Title 3">
            <a:extLst>
              <a:ext uri="{FF2B5EF4-FFF2-40B4-BE49-F238E27FC236}">
                <a16:creationId xmlns:a16="http://schemas.microsoft.com/office/drawing/2014/main" id="{69C298CF-67E9-CE22-6DC4-94E5ED6D5A5D}"/>
              </a:ext>
            </a:extLst>
          </p:cNvPr>
          <p:cNvSpPr txBox="1">
            <a:spLocks/>
          </p:cNvSpPr>
          <p:nvPr/>
        </p:nvSpPr>
        <p:spPr>
          <a:xfrm>
            <a:off x="1289800" y="102904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KNN Modeling results</a:t>
            </a:r>
          </a:p>
        </p:txBody>
      </p:sp>
    </p:spTree>
    <p:extLst>
      <p:ext uri="{BB962C8B-B14F-4D97-AF65-F5344CB8AC3E}">
        <p14:creationId xmlns:p14="http://schemas.microsoft.com/office/powerpoint/2010/main" val="2039678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E4B3-EDBB-5C8F-0023-9BDD70D4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1F8DD0-E993-4244-8EA1-D7B2EA5F8B5F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E80269B7-CDA4-CBDD-6771-FDAD05EEDB4B}"/>
              </a:ext>
            </a:extLst>
          </p:cNvPr>
          <p:cNvSpPr txBox="1">
            <a:spLocks/>
          </p:cNvSpPr>
          <p:nvPr/>
        </p:nvSpPr>
        <p:spPr>
          <a:xfrm>
            <a:off x="944880" y="0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K Means Clustering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AD0977-4B88-DF0F-FB5A-A12A8462F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04734"/>
              </p:ext>
            </p:extLst>
          </p:nvPr>
        </p:nvGraphicFramePr>
        <p:xfrm>
          <a:off x="7117464" y="2286000"/>
          <a:ext cx="4909693" cy="298861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652391">
                  <a:extLst>
                    <a:ext uri="{9D8B030D-6E8A-4147-A177-3AD203B41FA5}">
                      <a16:colId xmlns:a16="http://schemas.microsoft.com/office/drawing/2014/main" val="3205235681"/>
                    </a:ext>
                  </a:extLst>
                </a:gridCol>
                <a:gridCol w="1689300">
                  <a:extLst>
                    <a:ext uri="{9D8B030D-6E8A-4147-A177-3AD203B41FA5}">
                      <a16:colId xmlns:a16="http://schemas.microsoft.com/office/drawing/2014/main" val="2782077150"/>
                    </a:ext>
                  </a:extLst>
                </a:gridCol>
                <a:gridCol w="2568002">
                  <a:extLst>
                    <a:ext uri="{9D8B030D-6E8A-4147-A177-3AD203B41FA5}">
                      <a16:colId xmlns:a16="http://schemas.microsoft.com/office/drawing/2014/main" val="2131620936"/>
                    </a:ext>
                  </a:extLst>
                </a:gridCol>
              </a:tblGrid>
              <a:tr h="301170">
                <a:tc gridSpan="3"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effectLst/>
                        </a:rPr>
                        <a:t>K-Means Clustering Results for Top 5 Earth-Like Exoplanets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32129"/>
                  </a:ext>
                </a:extLst>
              </a:tr>
              <a:tr h="409654"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Rank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Planet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Cluster_Type (Planetary System)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749179"/>
                  </a:ext>
                </a:extLst>
              </a:tr>
              <a:tr h="37410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Kepler-452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Planetary System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272827"/>
                  </a:ext>
                </a:extLst>
              </a:tr>
              <a:tr h="48671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Kepler-1638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Planetary System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82469"/>
                  </a:ext>
                </a:extLst>
              </a:tr>
              <a:tr h="420909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Kepler-51 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Planetary System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975070"/>
                  </a:ext>
                </a:extLst>
              </a:tr>
              <a:tr h="41928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4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Kepler-1606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Planetary System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090812"/>
                  </a:ext>
                </a:extLst>
              </a:tr>
              <a:tr h="41928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Kepler-1701 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Planetary System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28724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A5701692-A6A5-5257-0C77-34C982901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9" y="867748"/>
            <a:ext cx="6940404" cy="564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826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1B72-EEE8-DC65-539D-12337443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BF02F5-8AF0-55DA-B78D-98262C2EB125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2B28F841-8606-5D8C-50D1-C7CE9D75E536}"/>
              </a:ext>
            </a:extLst>
          </p:cNvPr>
          <p:cNvSpPr txBox="1">
            <a:spLocks/>
          </p:cNvSpPr>
          <p:nvPr/>
        </p:nvSpPr>
        <p:spPr>
          <a:xfrm>
            <a:off x="944880" y="0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GMM Clustering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487EE0-6F8D-ADC7-8112-1219E22A6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75501"/>
              </p:ext>
            </p:extLst>
          </p:nvPr>
        </p:nvGraphicFramePr>
        <p:xfrm>
          <a:off x="7654892" y="1073020"/>
          <a:ext cx="4371684" cy="517118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62781">
                  <a:extLst>
                    <a:ext uri="{9D8B030D-6E8A-4147-A177-3AD203B41FA5}">
                      <a16:colId xmlns:a16="http://schemas.microsoft.com/office/drawing/2014/main" val="643828471"/>
                    </a:ext>
                  </a:extLst>
                </a:gridCol>
                <a:gridCol w="1134567">
                  <a:extLst>
                    <a:ext uri="{9D8B030D-6E8A-4147-A177-3AD203B41FA5}">
                      <a16:colId xmlns:a16="http://schemas.microsoft.com/office/drawing/2014/main" val="2840368028"/>
                    </a:ext>
                  </a:extLst>
                </a:gridCol>
                <a:gridCol w="1701850">
                  <a:extLst>
                    <a:ext uri="{9D8B030D-6E8A-4147-A177-3AD203B41FA5}">
                      <a16:colId xmlns:a16="http://schemas.microsoft.com/office/drawing/2014/main" val="2230617645"/>
                    </a:ext>
                  </a:extLst>
                </a:gridCol>
                <a:gridCol w="972486">
                  <a:extLst>
                    <a:ext uri="{9D8B030D-6E8A-4147-A177-3AD203B41FA5}">
                      <a16:colId xmlns:a16="http://schemas.microsoft.com/office/drawing/2014/main" val="1609522939"/>
                    </a:ext>
                  </a:extLst>
                </a:gridCol>
              </a:tblGrid>
              <a:tr h="475862">
                <a:tc gridSpan="4"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effectLst/>
                        </a:rPr>
                        <a:t>GMM Results for Top 5 Earth-Like Exoplanets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25205"/>
                  </a:ext>
                </a:extLst>
              </a:tr>
              <a:tr h="609413"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Rank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E0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Planet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E0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Cluster_Type</a:t>
                      </a:r>
                      <a:r>
                        <a:rPr lang="en-US" sz="1200" b="1" kern="100" dirty="0">
                          <a:effectLst/>
                        </a:rPr>
                        <a:t> </a:t>
                      </a:r>
                      <a:r>
                        <a:rPr lang="en-US" sz="1200" b="1" kern="1200" dirty="0">
                          <a:effectLst/>
                        </a:rPr>
                        <a:t>(Planetary System)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E0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Cluster Probability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E0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8402"/>
                  </a:ext>
                </a:extLst>
              </a:tr>
              <a:tr h="70422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Kepler-452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star hosting Earth-sized and Super-Earth-sized rocky planets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045851"/>
                  </a:ext>
                </a:extLst>
              </a:tr>
              <a:tr h="70422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Kepler-1638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star hosting Earth-sized and Super-Earth-sized rocky planets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100%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520961"/>
                  </a:ext>
                </a:extLst>
              </a:tr>
              <a:tr h="70422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Kepler-51 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Sun-Like star hosting Earth-sized and Super-Earth-sized rocky planets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947311"/>
                  </a:ext>
                </a:extLst>
              </a:tr>
              <a:tr h="70422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Kepler-1606 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Sun-Like star hosting Earth-sized and Super-Earth-sized rocky planets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966449"/>
                  </a:ext>
                </a:extLst>
              </a:tr>
              <a:tr h="704225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Kepler-1701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Sun-Like star hosting Earth-sized and Super-Earth-sized rocky planets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73565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491459AF-C33E-AD56-1099-C194CB473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62" y="727788"/>
            <a:ext cx="7314171" cy="601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442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A950-7C18-E277-E5FC-19481C27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2C3A10-351D-F7DA-8FF7-C56F6A3F1BEF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28FB4C9E-0737-0432-D715-E80360C8CDE1}"/>
              </a:ext>
            </a:extLst>
          </p:cNvPr>
          <p:cNvSpPr txBox="1">
            <a:spLocks/>
          </p:cNvSpPr>
          <p:nvPr/>
        </p:nvSpPr>
        <p:spPr>
          <a:xfrm>
            <a:off x="944880" y="0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GMM Clustering results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11A69D79-B409-CC49-00BB-B7D0171CF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0778" y="1001194"/>
            <a:ext cx="6850138" cy="544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623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8DC5-4864-45B0-B3B6-D8C5768C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9B7A42-3141-1079-018A-45F9CC5368E7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784FC275-75F5-8835-B5CC-7B232666523E}"/>
              </a:ext>
            </a:extLst>
          </p:cNvPr>
          <p:cNvSpPr txBox="1">
            <a:spLocks/>
          </p:cNvSpPr>
          <p:nvPr/>
        </p:nvSpPr>
        <p:spPr>
          <a:xfrm>
            <a:off x="944880" y="402259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HDBSCAN Clustering results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F73EDFE1-1AB9-1636-BD56-FCCBF697B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612" y="1372644"/>
            <a:ext cx="5614771" cy="451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6D52B3E0-5321-C4AC-723E-94AB8033F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37111" y="1484091"/>
            <a:ext cx="717778" cy="421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62AD5C4-A85C-6E5D-FF9B-9234E778F9DD}"/>
              </a:ext>
            </a:extLst>
          </p:cNvPr>
          <p:cNvCxnSpPr/>
          <p:nvPr/>
        </p:nvCxnSpPr>
        <p:spPr>
          <a:xfrm>
            <a:off x="6559420" y="3564294"/>
            <a:ext cx="65314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D05000-3815-A013-12CB-712EBD5DE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094" y="1623016"/>
            <a:ext cx="4874906" cy="400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634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F204-2FB0-2117-8EFC-C2EF2CAE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FDA811-2AEA-FB68-2C77-7E879421CD6C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D4201117-013F-7164-AA07-7672CC1846E4}"/>
              </a:ext>
            </a:extLst>
          </p:cNvPr>
          <p:cNvSpPr txBox="1">
            <a:spLocks/>
          </p:cNvSpPr>
          <p:nvPr/>
        </p:nvSpPr>
        <p:spPr>
          <a:xfrm>
            <a:off x="944880" y="409992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HDBSCAN Clustering results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339DC7-CCF7-FA15-602F-E4003709BCD6}"/>
              </a:ext>
            </a:extLst>
          </p:cNvPr>
          <p:cNvCxnSpPr/>
          <p:nvPr/>
        </p:nvCxnSpPr>
        <p:spPr>
          <a:xfrm>
            <a:off x="5918718" y="3601616"/>
            <a:ext cx="65314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EF40927-DF8B-DDEB-DE7E-D810DB387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1861" y="1568165"/>
            <a:ext cx="5516201" cy="449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AA4F015-3B37-6647-4595-5824D373C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8" y="1505047"/>
            <a:ext cx="5627263" cy="462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907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44C0-7E7F-5148-1289-45F1E831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878FDB-1516-27AC-80AA-3FC20127545B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0E102862-5FAB-E629-2A78-36385C9D34DB}"/>
              </a:ext>
            </a:extLst>
          </p:cNvPr>
          <p:cNvSpPr txBox="1">
            <a:spLocks/>
          </p:cNvSpPr>
          <p:nvPr/>
        </p:nvSpPr>
        <p:spPr>
          <a:xfrm>
            <a:off x="944880" y="409992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HDBSCAN Clustering results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07776309-E2EF-B71C-669E-DE15F4AC5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19381" y="1560754"/>
            <a:ext cx="5473566" cy="449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63B92-9A7A-90F9-7484-D042AD537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6419" y="1560755"/>
            <a:ext cx="5516201" cy="4495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AE4980-02AC-5618-D504-059E47CDE90D}"/>
              </a:ext>
            </a:extLst>
          </p:cNvPr>
          <p:cNvCxnSpPr/>
          <p:nvPr/>
        </p:nvCxnSpPr>
        <p:spPr>
          <a:xfrm>
            <a:off x="5866238" y="3620277"/>
            <a:ext cx="65314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041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A077-DA4C-0FDB-BFE5-4F4907DD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26001A-DD96-6C6B-344D-8AFACA0A6CDA}"/>
              </a:ext>
            </a:extLst>
          </p:cNvPr>
          <p:cNvCxnSpPr>
            <a:cxnSpLocks/>
          </p:cNvCxnSpPr>
          <p:nvPr/>
        </p:nvCxnSpPr>
        <p:spPr>
          <a:xfrm>
            <a:off x="737118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59222D95-8B3F-99AC-A608-BADE2BFD01CE}"/>
              </a:ext>
            </a:extLst>
          </p:cNvPr>
          <p:cNvSpPr txBox="1">
            <a:spLocks/>
          </p:cNvSpPr>
          <p:nvPr/>
        </p:nvSpPr>
        <p:spPr>
          <a:xfrm>
            <a:off x="944880" y="409992"/>
            <a:ext cx="10302240" cy="72778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HDBSCAN Clustering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54F0D-B97B-763B-473D-38B57B219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457307"/>
              </p:ext>
            </p:extLst>
          </p:nvPr>
        </p:nvGraphicFramePr>
        <p:xfrm>
          <a:off x="6615406" y="1539557"/>
          <a:ext cx="5225140" cy="5064228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672650">
                  <a:extLst>
                    <a:ext uri="{9D8B030D-6E8A-4147-A177-3AD203B41FA5}">
                      <a16:colId xmlns:a16="http://schemas.microsoft.com/office/drawing/2014/main" val="695239292"/>
                    </a:ext>
                  </a:extLst>
                </a:gridCol>
                <a:gridCol w="1356061">
                  <a:extLst>
                    <a:ext uri="{9D8B030D-6E8A-4147-A177-3AD203B41FA5}">
                      <a16:colId xmlns:a16="http://schemas.microsoft.com/office/drawing/2014/main" val="1891956723"/>
                    </a:ext>
                  </a:extLst>
                </a:gridCol>
                <a:gridCol w="2034092">
                  <a:extLst>
                    <a:ext uri="{9D8B030D-6E8A-4147-A177-3AD203B41FA5}">
                      <a16:colId xmlns:a16="http://schemas.microsoft.com/office/drawing/2014/main" val="1936212307"/>
                    </a:ext>
                  </a:extLst>
                </a:gridCol>
                <a:gridCol w="1162337">
                  <a:extLst>
                    <a:ext uri="{9D8B030D-6E8A-4147-A177-3AD203B41FA5}">
                      <a16:colId xmlns:a16="http://schemas.microsoft.com/office/drawing/2014/main" val="2221360007"/>
                    </a:ext>
                  </a:extLst>
                </a:gridCol>
              </a:tblGrid>
              <a:tr h="489159">
                <a:tc gridSpan="4"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effectLst/>
                        </a:rPr>
                        <a:t>HDBSCAN Results for Top 5 Earth-Like Exoplanets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851504"/>
                  </a:ext>
                </a:extLst>
              </a:tr>
              <a:tr h="489159"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Rank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Planet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Cluster_Type</a:t>
                      </a:r>
                      <a:r>
                        <a:rPr lang="en-US" sz="1200" b="1" kern="100" dirty="0">
                          <a:effectLst/>
                        </a:rPr>
                        <a:t> </a:t>
                      </a:r>
                      <a:r>
                        <a:rPr lang="en-US" sz="1200" b="1" kern="1200" dirty="0">
                          <a:effectLst/>
                        </a:rPr>
                        <a:t>(Planetary System)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200" dirty="0">
                          <a:effectLst/>
                        </a:rPr>
                        <a:t>Cluster Probability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849767"/>
                  </a:ext>
                </a:extLst>
              </a:tr>
              <a:tr h="75232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Kepler-452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Sun-like stars hosting Super-Earth-sized rocky planets in the habitable zone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57360"/>
                  </a:ext>
                </a:extLst>
              </a:tr>
              <a:tr h="75232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Kepler-1638 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stars hosting Super-Earth-sized rocky planets in the habitable zone 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85.7%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08659"/>
                  </a:ext>
                </a:extLst>
              </a:tr>
              <a:tr h="75232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Kepler-51 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stars hosting Super-Earth-sized rocky planets in the habitable zone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60589"/>
                  </a:ext>
                </a:extLst>
              </a:tr>
              <a:tr h="75232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Kepler-1606 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Sun-like stars hosting Super-Earth-sized rocky planets in the habitable zone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661827"/>
                  </a:ext>
                </a:extLst>
              </a:tr>
              <a:tr h="752326"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Kepler-1701 b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>
                          <a:effectLst/>
                        </a:rPr>
                        <a:t>Sun-like stars hosting Super-Earth-sized rocky planets in the habitable zone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197600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9A51B153-7B01-8612-3ACD-6E233F358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0946"/>
            <a:ext cx="6495155" cy="522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750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3C6C-9912-7F03-B887-BD00D77F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B3986-559D-B81D-99C2-65F853B6B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174" y="2939144"/>
            <a:ext cx="10302240" cy="1680361"/>
          </a:xfrm>
        </p:spPr>
        <p:txBody>
          <a:bodyPr/>
          <a:lstStyle/>
          <a:p>
            <a:pPr algn="ctr"/>
            <a:r>
              <a:rPr lang="en-US" dirty="0"/>
              <a:t>Conclusion &amp; </a:t>
            </a:r>
            <a:br>
              <a:rPr lang="en-US" dirty="0"/>
            </a:br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561910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7F25-D831-F1DB-40CC-4CEC3012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tellite dish and sparkling night sky">
            <a:extLst>
              <a:ext uri="{FF2B5EF4-FFF2-40B4-BE49-F238E27FC236}">
                <a16:creationId xmlns:a16="http://schemas.microsoft.com/office/drawing/2014/main" id="{08B0BF8B-B371-C003-A56F-24ECFE1516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" y="0"/>
            <a:ext cx="1219155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D6FD44-C071-08AF-6602-C0536A9FF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239"/>
            <a:ext cx="8311102" cy="796482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C0BFF-B4B6-9B8D-192C-02C5AACFD0CA}"/>
              </a:ext>
            </a:extLst>
          </p:cNvPr>
          <p:cNvSpPr txBox="1"/>
          <p:nvPr/>
        </p:nvSpPr>
        <p:spPr>
          <a:xfrm>
            <a:off x="1423558" y="1019721"/>
            <a:ext cx="823893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KNN Model #1 (Manhattan Distance) and KNN Model #2 (Euclidean Distance) shows: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most Earth-Like exoplanet is Kepler-452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Followed by Kepler-1638 b, Kepler-51 e, Kepler-1606 b, and Kepler-1701 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Top 5 Earth-like exoplanets remain consistent using both distance metrics </a:t>
            </a:r>
            <a:r>
              <a:rPr lang="en-US" sz="2000" dirty="0">
                <a:solidFill>
                  <a:schemeClr val="bg1"/>
                </a:solidFill>
                <a:sym typeface="Wingdings" panose="05000000000000000000" pitchFamily="2" charset="2"/>
              </a:rPr>
              <a:t> T</a:t>
            </a:r>
            <a:r>
              <a:rPr lang="en-US" sz="2000" dirty="0">
                <a:solidFill>
                  <a:schemeClr val="bg1"/>
                </a:solidFill>
              </a:rPr>
              <a:t>op-ranked Earth-Like planets are robust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Mid-ranked Earth-Like exoplanets are sensitive to distance metric choice </a:t>
            </a:r>
            <a:r>
              <a:rPr lang="en-US" sz="2000" dirty="0">
                <a:solidFill>
                  <a:schemeClr val="bg1"/>
                </a:solidFill>
                <a:sym typeface="Wingdings" panose="05000000000000000000" pitchFamily="2" charset="2"/>
              </a:rPr>
              <a:t> S</a:t>
            </a:r>
            <a:r>
              <a:rPr lang="en-US" sz="2000" dirty="0">
                <a:solidFill>
                  <a:schemeClr val="bg1"/>
                </a:solidFill>
              </a:rPr>
              <a:t>imilarity rankings less stable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A188B0-A9FF-7384-7651-2DCDC707A669}"/>
              </a:ext>
            </a:extLst>
          </p:cNvPr>
          <p:cNvCxnSpPr>
            <a:cxnSpLocks/>
          </p:cNvCxnSpPr>
          <p:nvPr/>
        </p:nvCxnSpPr>
        <p:spPr>
          <a:xfrm>
            <a:off x="1278294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055B38-1BE5-D6CB-E801-606060FF93B1}"/>
              </a:ext>
            </a:extLst>
          </p:cNvPr>
          <p:cNvSpPr txBox="1"/>
          <p:nvPr/>
        </p:nvSpPr>
        <p:spPr>
          <a:xfrm>
            <a:off x="1423558" y="4303455"/>
            <a:ext cx="98611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K-Means Clustering, GMM, and HDBSCAN Shows Agreement: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Consistent results for grouping top 10 Earth-Like exoplanets into planetary systems </a:t>
            </a:r>
            <a:r>
              <a:rPr lang="en-US" sz="2000" dirty="0">
                <a:solidFill>
                  <a:schemeClr val="bg1"/>
                </a:solidFill>
                <a:sym typeface="Wingdings" panose="05000000000000000000" pitchFamily="2" charset="2"/>
              </a:rPr>
              <a:t> validates results</a:t>
            </a:r>
            <a:endParaRPr lang="en-US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All 3 models successfully identified the natural planetary groupings of all confirmed exoplanets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Groupings show top 5 exoplanets are likely rocky Earth-sized or Super-Earth-sized planets orbiting a Type-G (Sun-Like) star within the Habitable Zone of its star within the Galactic Habitable Zone (Potentially habitable)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25DF95-B845-7F15-D88C-F00F2FC94F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1252" y="0"/>
            <a:ext cx="2794379" cy="2360645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075704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6B84-1CDF-8D7A-078F-5E505B88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tellite dish and sparkling night sky">
            <a:extLst>
              <a:ext uri="{FF2B5EF4-FFF2-40B4-BE49-F238E27FC236}">
                <a16:creationId xmlns:a16="http://schemas.microsoft.com/office/drawing/2014/main" id="{A41E5BA7-E2BE-F07C-BCB9-730410902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" y="0"/>
            <a:ext cx="1219155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D21B8-79A9-2F0D-B3E6-AC9D2C0F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33" y="699796"/>
            <a:ext cx="7597902" cy="933061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3D66D-C540-1395-2129-4CDD4AECCBB5}"/>
              </a:ext>
            </a:extLst>
          </p:cNvPr>
          <p:cNvSpPr txBox="1"/>
          <p:nvPr/>
        </p:nvSpPr>
        <p:spPr>
          <a:xfrm>
            <a:off x="1464906" y="1901850"/>
            <a:ext cx="1017969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K-Means Clustering, GMM, and HDBSCAN Comparison: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K-Means classified planets based on their stellar features. GMM classified planets based on stellar and planetary features. HDBSCAN classified planets based on all key features.</a:t>
            </a:r>
          </a:p>
          <a:p>
            <a:pPr lvl="1"/>
            <a:endParaRPr lang="en-US" sz="1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GMM’s high membership probability (&gt;99%) </a:t>
            </a:r>
            <a:r>
              <a:rPr lang="en-US" sz="2000" dirty="0">
                <a:solidFill>
                  <a:schemeClr val="bg1"/>
                </a:solidFill>
                <a:sym typeface="Wingdings" panose="05000000000000000000" pitchFamily="2" charset="2"/>
              </a:rPr>
              <a:t> high confidence </a:t>
            </a:r>
            <a:r>
              <a:rPr lang="en-US" sz="2000" dirty="0">
                <a:solidFill>
                  <a:schemeClr val="bg1"/>
                </a:solidFill>
              </a:rPr>
              <a:t>in correctly assigning all exoplanets to clusters (including top 10 Earth-Like exoplanets).</a:t>
            </a:r>
          </a:p>
          <a:p>
            <a:pPr lvl="1"/>
            <a:endParaRPr lang="en-US" sz="1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HDBSCAN’s high membership probability (85% - 100%) </a:t>
            </a:r>
            <a:r>
              <a:rPr lang="en-US" sz="20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bg1"/>
                </a:solidFill>
              </a:rPr>
              <a:t> high confidence in correctly assigning top 10 Earth-Like exoplanets to clusters.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Clustering structure for K-Means and GMM same due to manually removing outlier planets.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Clustering structure for HBDSCAN different since outlier planets automatically removed by model.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DFCDBA-A76F-A0E2-3B8B-D1B739B38A0F}"/>
              </a:ext>
            </a:extLst>
          </p:cNvPr>
          <p:cNvCxnSpPr>
            <a:cxnSpLocks/>
          </p:cNvCxnSpPr>
          <p:nvPr/>
        </p:nvCxnSpPr>
        <p:spPr>
          <a:xfrm>
            <a:off x="1278294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9D85943-2558-A78D-0523-23437D433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76196" y="168352"/>
            <a:ext cx="3017201" cy="2014609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011091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19A9-E716-B139-3E94-5006D945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A6DC-C407-231C-9AA0-730DF97C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33" y="625151"/>
            <a:ext cx="8311102" cy="1138336"/>
          </a:xfrm>
        </p:spPr>
        <p:txBody>
          <a:bodyPr/>
          <a:lstStyle/>
          <a:p>
            <a:pPr algn="ctr"/>
            <a:r>
              <a:rPr lang="en-US" dirty="0"/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DE6B1-28DB-DA8B-D88F-45CCF4A09D27}"/>
              </a:ext>
            </a:extLst>
          </p:cNvPr>
          <p:cNvSpPr txBox="1"/>
          <p:nvPr/>
        </p:nvSpPr>
        <p:spPr>
          <a:xfrm>
            <a:off x="1735494" y="1901850"/>
            <a:ext cx="61022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Expanding study to predict habitability for all exoplanets regardless of their feature similarity to Earth.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additional unsupervised learning models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Rank exoplanets by their habitability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Analyze the planetary structure of outlier exoplanets which exhibit anomalous features from current known planetary structures.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09C180-C72E-6B03-10E8-7AE35F70EDBE}"/>
              </a:ext>
            </a:extLst>
          </p:cNvPr>
          <p:cNvCxnSpPr>
            <a:cxnSpLocks/>
          </p:cNvCxnSpPr>
          <p:nvPr/>
        </p:nvCxnSpPr>
        <p:spPr>
          <a:xfrm>
            <a:off x="1278294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James Webb Space Telescope Reveals 'Cosmic Tornado' and Hidden Galaxy in  Striking New Images - The Debrief">
            <a:extLst>
              <a:ext uri="{FF2B5EF4-FFF2-40B4-BE49-F238E27FC236}">
                <a16:creationId xmlns:a16="http://schemas.microsoft.com/office/drawing/2014/main" id="{DF0BAF6A-8512-5023-17D5-E8E69442C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9926" y="3465037"/>
            <a:ext cx="2693436" cy="32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orthwestern to lead $20 million National AI Research Institute in Astronomy  - Northwestern Now">
            <a:extLst>
              <a:ext uri="{FF2B5EF4-FFF2-40B4-BE49-F238E27FC236}">
                <a16:creationId xmlns:a16="http://schemas.microsoft.com/office/drawing/2014/main" id="{D03AC7FB-B822-9D7E-B3B3-5598E3E923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6644" y="82971"/>
            <a:ext cx="2514139" cy="330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986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GC 602 (Webb image) | ESA/Webb">
            <a:extLst>
              <a:ext uri="{FF2B5EF4-FFF2-40B4-BE49-F238E27FC236}">
                <a16:creationId xmlns:a16="http://schemas.microsoft.com/office/drawing/2014/main" id="{905D1D72-375A-C77B-AE1C-4BF738D16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7864" y="2677886"/>
            <a:ext cx="7983110" cy="1870602"/>
          </a:xfrm>
          <a:solidFill>
            <a:srgbClr val="A0484E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 presentation</Template>
  <TotalTime>1183</TotalTime>
  <Words>1652</Words>
  <Application>Microsoft Office PowerPoint</Application>
  <PresentationFormat>Widescreen</PresentationFormat>
  <Paragraphs>306</Paragraphs>
  <Slides>37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Univers</vt:lpstr>
      <vt:lpstr>Wingdings</vt:lpstr>
      <vt:lpstr>GradientVTI</vt:lpstr>
      <vt:lpstr>Predicting Earth-Like Similarity in Exoplanets  Using Machine Learning BY: Samia Mahmood</vt:lpstr>
      <vt:lpstr>Introduction</vt:lpstr>
      <vt:lpstr>Motivation: Problem to solve</vt:lpstr>
      <vt:lpstr>objective</vt:lpstr>
      <vt:lpstr>background</vt:lpstr>
      <vt:lpstr>Background:  Stellar criteria</vt:lpstr>
      <vt:lpstr>Background: habitability criteria</vt:lpstr>
      <vt:lpstr>methodology</vt:lpstr>
      <vt:lpstr>Methodology: Initial Data Cleaning</vt:lpstr>
      <vt:lpstr>Methodology: Outliers &amp; duplicate rows</vt:lpstr>
      <vt:lpstr>Methodology: Final Data Cleaning &amp; dataset description</vt:lpstr>
      <vt:lpstr>Methodology: K Nearest Neighbor (KNN) Model</vt:lpstr>
      <vt:lpstr>Methodology: K Means Clustering</vt:lpstr>
      <vt:lpstr>Methodology: Gaussian Mixture Model (GMM) </vt:lpstr>
      <vt:lpstr>Methodology: Hierarchical Density-Based Spatial Clustering of Applications with Noise (HBDSCAN)</vt:lpstr>
      <vt:lpstr>Exploratory Data Analysis (EDA)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 Future Work</vt:lpstr>
      <vt:lpstr>Conclusions</vt:lpstr>
      <vt:lpstr>Conclusions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Samia Z. Mahmood</dc:creator>
  <cp:lastModifiedBy>Samia Z. Mahmood</cp:lastModifiedBy>
  <cp:revision>93</cp:revision>
  <dcterms:created xsi:type="dcterms:W3CDTF">2026-04-22T23:19:55Z</dcterms:created>
  <dcterms:modified xsi:type="dcterms:W3CDTF">2026-04-26T00:06:20Z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