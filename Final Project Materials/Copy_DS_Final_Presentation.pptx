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96" r:id="rId4"/>
  </p:sldMasterIdLst>
  <p:notesMasterIdLst>
    <p:notesMasterId r:id="rId42"/>
  </p:notesMasterIdLst>
  <p:handoutMasterIdLst>
    <p:handoutMasterId r:id="rId43"/>
  </p:handoutMasterIdLst>
  <p:sldIdLst>
    <p:sldId id="334" r:id="rId5"/>
    <p:sldId id="328" r:id="rId6"/>
    <p:sldId id="342" r:id="rId7"/>
    <p:sldId id="350" r:id="rId8"/>
    <p:sldId id="381" r:id="rId9"/>
    <p:sldId id="346" r:id="rId10"/>
    <p:sldId id="353" r:id="rId11"/>
    <p:sldId id="380" r:id="rId12"/>
    <p:sldId id="359" r:id="rId13"/>
    <p:sldId id="356" r:id="rId14"/>
    <p:sldId id="357" r:id="rId15"/>
    <p:sldId id="358" r:id="rId16"/>
    <p:sldId id="360" r:id="rId17"/>
    <p:sldId id="361" r:id="rId18"/>
    <p:sldId id="362" r:id="rId19"/>
    <p:sldId id="354" r:id="rId20"/>
    <p:sldId id="363" r:id="rId21"/>
    <p:sldId id="364" r:id="rId22"/>
    <p:sldId id="365" r:id="rId23"/>
    <p:sldId id="366" r:id="rId24"/>
    <p:sldId id="367" r:id="rId25"/>
    <p:sldId id="369" r:id="rId26"/>
    <p:sldId id="370" r:id="rId27"/>
    <p:sldId id="336" r:id="rId28"/>
    <p:sldId id="368" r:id="rId29"/>
    <p:sldId id="372" r:id="rId30"/>
    <p:sldId id="373" r:id="rId31"/>
    <p:sldId id="374" r:id="rId32"/>
    <p:sldId id="375" r:id="rId33"/>
    <p:sldId id="376" r:id="rId34"/>
    <p:sldId id="377" r:id="rId35"/>
    <p:sldId id="379" r:id="rId36"/>
    <p:sldId id="382" r:id="rId37"/>
    <p:sldId id="351" r:id="rId38"/>
    <p:sldId id="383" r:id="rId39"/>
    <p:sldId id="352" r:id="rId40"/>
    <p:sldId id="349" r:id="rId4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92" userDrawn="1">
          <p15:clr>
            <a:srgbClr val="A4A3A4"/>
          </p15:clr>
        </p15:guide>
        <p15:guide id="2" pos="7056" userDrawn="1">
          <p15:clr>
            <a:srgbClr val="A4A3A4"/>
          </p15:clr>
        </p15:guide>
        <p15:guide id="3" orient="horz" pos="316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DF3F2"/>
    <a:srgbClr val="7CE0DE"/>
    <a:srgbClr val="33CCCC"/>
    <a:srgbClr val="FFE9A3"/>
    <a:srgbClr val="FFD85D"/>
    <a:srgbClr val="FFA771"/>
    <a:srgbClr val="FF8133"/>
    <a:srgbClr val="FFC4A0"/>
    <a:srgbClr val="A0484E"/>
    <a:srgbClr val="D1718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DCAF9ED-07DC-4A11-8D7F-57B35C25682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5033" autoAdjust="0"/>
  </p:normalViewPr>
  <p:slideViewPr>
    <p:cSldViewPr snapToGrid="0">
      <p:cViewPr varScale="1">
        <p:scale>
          <a:sx n="82" d="100"/>
          <a:sy n="82" d="100"/>
        </p:scale>
        <p:origin x="720" y="72"/>
      </p:cViewPr>
      <p:guideLst>
        <p:guide orient="horz" pos="1392"/>
        <p:guide pos="7056"/>
        <p:guide orient="horz" pos="3168"/>
      </p:guideLst>
    </p:cSldViewPr>
  </p:slideViewPr>
  <p:outlineViewPr>
    <p:cViewPr>
      <p:scale>
        <a:sx n="33" d="100"/>
        <a:sy n="33" d="100"/>
      </p:scale>
      <p:origin x="0" y="-1103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7" d="100"/>
          <a:sy n="67" d="100"/>
        </p:scale>
        <p:origin x="3120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notesMaster" Target="notesMasters/notesMaster1.xml"/><Relationship Id="rId47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openxmlformats.org/officeDocument/2006/relationships/slide" Target="slides/slide37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handoutMaster" Target="handoutMasters/handoutMaster1.xml"/><Relationship Id="rId48" Type="http://schemas.microsoft.com/office/2018/10/relationships/authors" Target="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0E99E25-5B65-D93A-3010-8B947D67E65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DAEB28A-33CC-6CF5-1214-F2C3205F679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888634-FBA9-41D6-8B35-EE3A7D816B7C}" type="datetimeFigureOut">
              <a:rPr lang="en-US" smtClean="0"/>
              <a:t>4/25/2026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D63414-6160-FF79-B3F6-CD615625C84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83E93F-BDEC-C5F7-2553-8324882C419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97C78D2-97D1-4B37-BDD1-08A09BD4CA9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913595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EA28068-AFBD-4979-B752-9EB6F90B1386}" type="datetimeFigureOut">
              <a:rPr lang="en-US" smtClean="0"/>
              <a:t>4/25/2026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5939589-3E79-4C82-AA4A-FE78234FAA5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49689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39589-3E79-4C82-AA4A-FE78234FAA59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179619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39589-3E79-4C82-AA4A-FE78234FAA59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9933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39589-3E79-4C82-AA4A-FE78234FAA59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901054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D6AE17-AC0A-F29F-B939-944C0B855D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3A9E18-5F47-D6DC-9C9F-C87195F147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749FEC-9D19-7CC2-ADA0-82FB9EBAE2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156AC6-3D5E-4B07-81CB-A4D832206D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39589-3E79-4C82-AA4A-FE78234FAA59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65615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DF7090-E2C3-779C-4948-88C0A91EC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271A67-7098-364F-AFFE-14D216DA9E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79BF8B-37DA-5AED-B768-B40CA9848D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DC5305-8D19-8753-885C-A674E1073D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39589-3E79-4C82-AA4A-FE78234FAA59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088816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39589-3E79-4C82-AA4A-FE78234FAA59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6985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7B9046-1E46-5512-BC04-C4B0A6182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3CB3CF-D19F-CA56-525E-FD2E3B8471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9FA964-5EEC-0E2C-4CA9-AEE44FF024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7CF86C-8C4F-474D-F56C-328F00D4CD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39589-3E79-4C82-AA4A-FE78234FAA59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768257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BA4094-B400-6C71-B351-33BB6C899C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D652D2-66A9-8E45-DCDE-F536E3401C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1F8EFB-81EA-B34B-AE88-287B1CF3FF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E389DB-E709-507C-D6FD-970B266881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39589-3E79-4C82-AA4A-FE78234FAA59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47570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2640DF-5751-7F3D-9842-7F2B52221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216C14-9308-7F6A-A108-0446DB91DD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28BEE0-28B9-65AF-05A1-34925E9DE3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8B6F80-72C6-6E82-9790-20253890F0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39589-3E79-4C82-AA4A-FE78234FAA59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62042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39589-3E79-4C82-AA4A-FE78234FAA59}" type="slidenum">
              <a:rPr lang="en-US" smtClean="0"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154753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4CBB64-DD7F-1F7F-652F-E1316347B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DC9C79-FAD9-BDE7-F207-DDFC684DBE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1B4307-659B-A11C-A8BE-C6A0DB4423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0750FF-20D3-7851-9DE2-05AEC15E9E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39589-3E79-4C82-AA4A-FE78234FAA59}" type="slidenum">
              <a:rPr lang="en-US" smtClean="0"/>
              <a:t>33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0182688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108DF1-2F94-081F-0CBB-3B9B23F7DD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314843-C6D6-FC04-0D0C-263CB03D06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9103E5-91FB-F90E-E17C-80968B48A5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FB9A83-22FB-2545-CA77-74B1EF65D0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39589-3E79-4C82-AA4A-FE78234FAA59}" type="slidenum">
              <a:rPr lang="en-US" smtClean="0"/>
              <a:t>34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68771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A784A2-FF01-5FA9-D256-EC6453542B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DE85FA-2252-12F0-F343-A0E8C7DCFE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785409-67C1-DD98-5B23-01C1847CD9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B09168-1E97-B578-119B-6B1EE6200C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39589-3E79-4C82-AA4A-FE78234FAA59}" type="slidenum">
              <a:rPr lang="en-US" smtClean="0"/>
              <a:t>35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468409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ADF3C4-1752-4470-981C-82A9A53DA5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598857-12A1-5CFF-2B2E-4FD3EA157B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8EB6F2-2F88-7728-D5E9-B88CCA8CFC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DA03E4-F72D-BA0A-2018-A05239002B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39589-3E79-4C82-AA4A-FE78234FAA59}" type="slidenum">
              <a:rPr lang="en-US" smtClean="0"/>
              <a:t>36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315390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39589-3E79-4C82-AA4A-FE78234FAA59}" type="slidenum">
              <a:rPr lang="en-US" smtClean="0"/>
              <a:t>37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33641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Slide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0159" y="357809"/>
            <a:ext cx="7983110" cy="3080335"/>
          </a:xfrm>
        </p:spPr>
        <p:txBody>
          <a:bodyPr lIns="0" tIns="0" rIns="0" bIns="0" anchor="b"/>
          <a:lstStyle>
            <a:lvl1pPr algn="l">
              <a:lnSpc>
                <a:spcPts val="5400"/>
              </a:lnSpc>
              <a:defRPr sz="5400" b="1" i="0" cap="all" spc="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E825845-66DD-4B77-A729-CD97D156FE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280160" y="3496322"/>
            <a:ext cx="0" cy="33528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22749162-63A5-5BF9-895E-B0577A6C4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8161510" y="2744546"/>
            <a:ext cx="465456" cy="581432"/>
            <a:chOff x="7843462" y="2744546"/>
            <a:chExt cx="465456" cy="581432"/>
          </a:xfrm>
        </p:grpSpPr>
        <p:sp>
          <p:nvSpPr>
            <p:cNvPr id="19" name="Graphic 12">
              <a:extLst>
                <a:ext uri="{FF2B5EF4-FFF2-40B4-BE49-F238E27FC236}">
                  <a16:creationId xmlns:a16="http://schemas.microsoft.com/office/drawing/2014/main" id="{818B4386-1FCF-4ACE-BE25-AF9CC5E2256F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" name="Graphic 13">
              <a:extLst>
                <a:ext uri="{FF2B5EF4-FFF2-40B4-BE49-F238E27FC236}">
                  <a16:creationId xmlns:a16="http://schemas.microsoft.com/office/drawing/2014/main" id="{19319560-50ED-4963-A2CF-74663239D426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" name="Graphic 15">
              <a:extLst>
                <a:ext uri="{FF2B5EF4-FFF2-40B4-BE49-F238E27FC236}">
                  <a16:creationId xmlns:a16="http://schemas.microsoft.com/office/drawing/2014/main" id="{E5ABBDAD-943D-48F3-9C80-B29C48966C79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1379060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image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16544" y="614202"/>
            <a:ext cx="5918072" cy="2276856"/>
          </a:xfrm>
        </p:spPr>
        <p:txBody>
          <a:bodyPr lIns="0" tIns="0" rIns="0" bIns="0" anchor="b"/>
          <a:lstStyle>
            <a:lvl1pPr algn="r">
              <a:lnSpc>
                <a:spcPts val="4000"/>
              </a:lnSpc>
              <a:defRPr sz="4000" b="1" cap="all" spc="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C738AB3-8054-6E21-C34C-36AF3A31AC4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34120D15-E48C-4FBE-BB95-24DB36D9F45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280160" y="2530058"/>
            <a:ext cx="3707972" cy="3707971"/>
          </a:xfrm>
          <a:custGeom>
            <a:avLst/>
            <a:gdLst>
              <a:gd name="connsiteX0" fmla="*/ 1853986 w 3707972"/>
              <a:gd name="connsiteY0" fmla="*/ 0 h 3707971"/>
              <a:gd name="connsiteX1" fmla="*/ 3707972 w 3707972"/>
              <a:gd name="connsiteY1" fmla="*/ 1853986 h 3707971"/>
              <a:gd name="connsiteX2" fmla="*/ 2043545 w 3707972"/>
              <a:gd name="connsiteY2" fmla="*/ 3698400 h 3707971"/>
              <a:gd name="connsiteX3" fmla="*/ 1854006 w 3707972"/>
              <a:gd name="connsiteY3" fmla="*/ 3707971 h 3707971"/>
              <a:gd name="connsiteX4" fmla="*/ 1853966 w 3707972"/>
              <a:gd name="connsiteY4" fmla="*/ 3707971 h 3707971"/>
              <a:gd name="connsiteX5" fmla="*/ 1664427 w 3707972"/>
              <a:gd name="connsiteY5" fmla="*/ 3698400 h 3707971"/>
              <a:gd name="connsiteX6" fmla="*/ 0 w 3707972"/>
              <a:gd name="connsiteY6" fmla="*/ 1853986 h 3707971"/>
              <a:gd name="connsiteX7" fmla="*/ 1853986 w 3707972"/>
              <a:gd name="connsiteY7" fmla="*/ 0 h 37079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707972" h="3707971">
                <a:moveTo>
                  <a:pt x="1853986" y="0"/>
                </a:moveTo>
                <a:cubicBezTo>
                  <a:pt x="2877914" y="0"/>
                  <a:pt x="3707972" y="830058"/>
                  <a:pt x="3707972" y="1853986"/>
                </a:cubicBezTo>
                <a:cubicBezTo>
                  <a:pt x="3707972" y="2813919"/>
                  <a:pt x="2978429" y="3603458"/>
                  <a:pt x="2043545" y="3698400"/>
                </a:cubicBezTo>
                <a:lnTo>
                  <a:pt x="1854006" y="3707971"/>
                </a:lnTo>
                <a:lnTo>
                  <a:pt x="1853966" y="3707971"/>
                </a:lnTo>
                <a:lnTo>
                  <a:pt x="1664427" y="3698400"/>
                </a:lnTo>
                <a:cubicBezTo>
                  <a:pt x="729543" y="3603458"/>
                  <a:pt x="0" y="2813919"/>
                  <a:pt x="0" y="1853986"/>
                </a:cubicBezTo>
                <a:cubicBezTo>
                  <a:pt x="0" y="830058"/>
                  <a:pt x="830058" y="0"/>
                  <a:pt x="1853986" y="0"/>
                </a:cubicBezTo>
                <a:close/>
              </a:path>
            </a:pathLst>
          </a:custGeom>
        </p:spPr>
        <p:txBody>
          <a:bodyPr wrap="square" tIns="914400" anchor="t">
            <a:noAutofit/>
          </a:bodyPr>
          <a:lstStyle>
            <a:lvl1pPr algn="ctr">
              <a:buNone/>
              <a:defRPr sz="16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FD1B85-4BEF-C1C1-5619-B82E9E44A9F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116548" y="3161752"/>
            <a:ext cx="5918068" cy="3144965"/>
          </a:xfrm>
        </p:spPr>
        <p:txBody>
          <a:bodyPr lIns="0" tIns="0" rIns="0" bIns="0">
            <a:normAutofit/>
          </a:bodyPr>
          <a:lstStyle>
            <a:lvl1pPr marL="0" indent="0" algn="r">
              <a:spcBef>
                <a:spcPts val="1200"/>
              </a:spcBef>
              <a:buNone/>
              <a:defRPr sz="2400">
                <a:solidFill>
                  <a:schemeClr val="bg1"/>
                </a:solidFill>
              </a:defRPr>
            </a:lvl1pPr>
            <a:lvl2pPr marL="457200" indent="0" algn="r">
              <a:spcBef>
                <a:spcPts val="1200"/>
              </a:spcBef>
              <a:buNone/>
              <a:defRPr sz="2400">
                <a:solidFill>
                  <a:schemeClr val="bg1"/>
                </a:solidFill>
              </a:defRPr>
            </a:lvl2pPr>
            <a:lvl3pPr marL="914400" indent="0" algn="r">
              <a:spcBef>
                <a:spcPts val="1200"/>
              </a:spcBef>
              <a:buNone/>
              <a:defRPr sz="2400">
                <a:solidFill>
                  <a:schemeClr val="bg1"/>
                </a:solidFill>
              </a:defRPr>
            </a:lvl3pPr>
            <a:lvl4pPr marL="1371600" indent="0" algn="r">
              <a:spcBef>
                <a:spcPts val="1200"/>
              </a:spcBef>
              <a:buNone/>
              <a:defRPr sz="2400">
                <a:solidFill>
                  <a:schemeClr val="bg1"/>
                </a:solidFill>
              </a:defRPr>
            </a:lvl4pPr>
            <a:lvl5pPr marL="1828800" indent="0" algn="r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3AE7F8D-AE68-4A83-BAB5-3A97D473CE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Graphic 12">
            <a:extLst>
              <a:ext uri="{FF2B5EF4-FFF2-40B4-BE49-F238E27FC236}">
                <a16:creationId xmlns:a16="http://schemas.microsoft.com/office/drawing/2014/main" id="{EA1B6985-3E5A-40F4-9268-D4AB3BBF8C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745394" y="2760277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bg1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Graphic 13">
            <a:extLst>
              <a:ext uri="{FF2B5EF4-FFF2-40B4-BE49-F238E27FC236}">
                <a16:creationId xmlns:a16="http://schemas.microsoft.com/office/drawing/2014/main" id="{338BC906-9D03-4280-85E8-21A81BC21D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386614" y="2530982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bg1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Graphic 15">
            <a:extLst>
              <a:ext uri="{FF2B5EF4-FFF2-40B4-BE49-F238E27FC236}">
                <a16:creationId xmlns:a16="http://schemas.microsoft.com/office/drawing/2014/main" id="{C5C06D53-C9F6-47E8-BFE1-B8193A1AED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652402" y="6031572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bg1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E9872E9-2F0D-2FEB-0974-F0BBBC5E0331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7238999" y="6356350"/>
            <a:ext cx="3795615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07687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Picture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0159" y="3386775"/>
            <a:ext cx="8311102" cy="3080335"/>
          </a:xfrm>
        </p:spPr>
        <p:txBody>
          <a:bodyPr lIns="0" tIns="274320" rIns="0" bIns="0" anchor="t" anchorCtr="0"/>
          <a:lstStyle>
            <a:lvl1pPr algn="l">
              <a:lnSpc>
                <a:spcPts val="5400"/>
              </a:lnSpc>
              <a:defRPr sz="5400" b="1" i="0" cap="all" spc="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E825845-66DD-4B77-A729-CD97D156FE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280160" y="0"/>
            <a:ext cx="0" cy="33528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22749162-63A5-5BF9-895E-B0577A6C4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9670435">
            <a:off x="7632743" y="794953"/>
            <a:ext cx="465456" cy="581432"/>
            <a:chOff x="7843462" y="2744546"/>
            <a:chExt cx="465456" cy="581432"/>
          </a:xfrm>
        </p:grpSpPr>
        <p:sp>
          <p:nvSpPr>
            <p:cNvPr id="19" name="Graphic 12">
              <a:extLst>
                <a:ext uri="{FF2B5EF4-FFF2-40B4-BE49-F238E27FC236}">
                  <a16:creationId xmlns:a16="http://schemas.microsoft.com/office/drawing/2014/main" id="{818B4386-1FCF-4ACE-BE25-AF9CC5E2256F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" name="Graphic 13">
              <a:extLst>
                <a:ext uri="{FF2B5EF4-FFF2-40B4-BE49-F238E27FC236}">
                  <a16:creationId xmlns:a16="http://schemas.microsoft.com/office/drawing/2014/main" id="{19319560-50ED-4963-A2CF-74663239D426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" name="Graphic 15">
              <a:extLst>
                <a:ext uri="{FF2B5EF4-FFF2-40B4-BE49-F238E27FC236}">
                  <a16:creationId xmlns:a16="http://schemas.microsoft.com/office/drawing/2014/main" id="{E5ABBDAD-943D-48F3-9C80-B29C48966C79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3" name="Picture Placeholder 14">
            <a:extLst>
              <a:ext uri="{FF2B5EF4-FFF2-40B4-BE49-F238E27FC236}">
                <a16:creationId xmlns:a16="http://schemas.microsoft.com/office/drawing/2014/main" id="{01D87F51-D69B-9038-0566-4FDC355AB6F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197587" y="411831"/>
            <a:ext cx="3521337" cy="3521344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tIns="914400" anchor="t" anchorCtr="0">
            <a:noAutofit/>
          </a:bodyPr>
          <a:lstStyle>
            <a:lvl1pPr algn="ctr">
              <a:buNone/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9512396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title + Picture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280159" y="640080"/>
            <a:ext cx="10302240" cy="1852046"/>
          </a:xfrm>
        </p:spPr>
        <p:txBody>
          <a:bodyPr lIns="0" tIns="0" rIns="0" bIns="0" anchor="b"/>
          <a:lstStyle>
            <a:lvl1pPr algn="l">
              <a:lnSpc>
                <a:spcPts val="5400"/>
              </a:lnSpc>
              <a:defRPr sz="5400" b="1" i="0" cap="all" spc="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80FBD9-0977-4B2B-9318-30774BB0947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280158" y="2588447"/>
            <a:ext cx="7853678" cy="726645"/>
          </a:xfrm>
        </p:spPr>
        <p:txBody>
          <a:bodyPr lIns="0" tIns="0" rIns="0" bIns="0" anchor="t" anchorCtr="0">
            <a:normAutofit/>
          </a:bodyPr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E825845-66DD-4B77-A729-CD97D156FE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280160" y="3496322"/>
            <a:ext cx="0" cy="33528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22749162-63A5-5BF9-895E-B0577A6C4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7659974" y="4456458"/>
            <a:ext cx="465456" cy="581432"/>
            <a:chOff x="7843462" y="2744546"/>
            <a:chExt cx="465456" cy="581432"/>
          </a:xfrm>
        </p:grpSpPr>
        <p:sp>
          <p:nvSpPr>
            <p:cNvPr id="19" name="Graphic 12">
              <a:extLst>
                <a:ext uri="{FF2B5EF4-FFF2-40B4-BE49-F238E27FC236}">
                  <a16:creationId xmlns:a16="http://schemas.microsoft.com/office/drawing/2014/main" id="{818B4386-1FCF-4ACE-BE25-AF9CC5E2256F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" name="Graphic 13">
              <a:extLst>
                <a:ext uri="{FF2B5EF4-FFF2-40B4-BE49-F238E27FC236}">
                  <a16:creationId xmlns:a16="http://schemas.microsoft.com/office/drawing/2014/main" id="{19319560-50ED-4963-A2CF-74663239D426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" name="Graphic 15">
              <a:extLst>
                <a:ext uri="{FF2B5EF4-FFF2-40B4-BE49-F238E27FC236}">
                  <a16:creationId xmlns:a16="http://schemas.microsoft.com/office/drawing/2014/main" id="{E5ABBDAD-943D-48F3-9C80-B29C48966C79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5DDB7824-50BA-B12F-AD49-CA8953CA3A0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536252" y="3205313"/>
            <a:ext cx="3043077" cy="3043083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tIns="914400" anchor="t" anchorCtr="0">
            <a:noAutofit/>
          </a:bodyPr>
          <a:lstStyle>
            <a:lvl1pPr algn="ctr">
              <a:buNone/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6526456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imag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96CF8C-1EA0-4E47-AC60-CAC3B80A3C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14800" y="640080"/>
            <a:ext cx="7498080" cy="1280160"/>
          </a:xfrm>
        </p:spPr>
        <p:txBody>
          <a:bodyPr lIns="0" tIns="0" rIns="0" bIns="0" anchor="b" anchorCtr="0"/>
          <a:lstStyle>
            <a:lvl1pPr>
              <a:defRPr sz="4000" b="1" cap="all" spc="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66FD4D-815A-431C-ADEF-DE6F236F6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4632" y="722376"/>
            <a:ext cx="520991" cy="517379"/>
          </a:xfrm>
        </p:spPr>
        <p:txBody>
          <a:bodyPr anchor="t" anchorCtr="0"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E62FC6D8-DD87-4B93-8491-43C84EE63FE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317615" y="895646"/>
            <a:ext cx="1956925" cy="1956928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tIns="91440" anchor="t" anchorCtr="0">
            <a:noAutofit/>
          </a:bodyPr>
          <a:lstStyle>
            <a:lvl1pPr algn="ctr">
              <a:buNone/>
              <a:defRPr sz="1800"/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CABF8-19D8-4F3C-994F-4D35EC7A2C3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14800" y="2194560"/>
            <a:ext cx="7498080" cy="4023360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10000"/>
              </a:lnSpc>
              <a:buNone/>
              <a:defRPr sz="1800"/>
            </a:lvl1pPr>
            <a:lvl2pPr marL="228600">
              <a:defRPr sz="1600"/>
            </a:lvl2pPr>
            <a:lvl3pPr marL="457200">
              <a:defRPr sz="1400"/>
            </a:lvl3pPr>
            <a:lvl4pPr marL="685800">
              <a:defRPr sz="1200"/>
            </a:lvl4pPr>
            <a:lvl5pPr>
              <a:defRPr sz="1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58B5E78-A531-681D-1312-F21B52D066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2970685" y="620661"/>
            <a:ext cx="403448" cy="381782"/>
            <a:chOff x="10969280" y="1780012"/>
            <a:chExt cx="403448" cy="381782"/>
          </a:xfrm>
        </p:grpSpPr>
        <p:sp>
          <p:nvSpPr>
            <p:cNvPr id="17" name="Graphic 10">
              <a:extLst>
                <a:ext uri="{FF2B5EF4-FFF2-40B4-BE49-F238E27FC236}">
                  <a16:creationId xmlns:a16="http://schemas.microsoft.com/office/drawing/2014/main" id="{AAD06B87-D9B2-4F94-B734-A8F039A203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1281590" y="2070656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accent2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" name="Graphic 11">
              <a:extLst>
                <a:ext uri="{FF2B5EF4-FFF2-40B4-BE49-F238E27FC236}">
                  <a16:creationId xmlns:a16="http://schemas.microsoft.com/office/drawing/2014/main" id="{BB13A13C-36EA-4B13-9175-C5FE95B34D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0969280" y="1780012"/>
              <a:ext cx="139039" cy="139039"/>
            </a:xfrm>
            <a:custGeom>
              <a:avLst/>
              <a:gdLst>
                <a:gd name="connsiteX0" fmla="*/ 129602 w 139039"/>
                <a:gd name="connsiteY0" fmla="*/ 60082 h 139039"/>
                <a:gd name="connsiteX1" fmla="*/ 78957 w 139039"/>
                <a:gd name="connsiteY1" fmla="*/ 60082 h 139039"/>
                <a:gd name="connsiteX2" fmla="*/ 78957 w 139039"/>
                <a:gd name="connsiteY2" fmla="*/ 9437 h 139039"/>
                <a:gd name="connsiteX3" fmla="*/ 69520 w 139039"/>
                <a:gd name="connsiteY3" fmla="*/ 0 h 139039"/>
                <a:gd name="connsiteX4" fmla="*/ 60082 w 139039"/>
                <a:gd name="connsiteY4" fmla="*/ 9437 h 139039"/>
                <a:gd name="connsiteX5" fmla="*/ 60082 w 139039"/>
                <a:gd name="connsiteY5" fmla="*/ 60082 h 139039"/>
                <a:gd name="connsiteX6" fmla="*/ 9437 w 139039"/>
                <a:gd name="connsiteY6" fmla="*/ 60082 h 139039"/>
                <a:gd name="connsiteX7" fmla="*/ 0 w 139039"/>
                <a:gd name="connsiteY7" fmla="*/ 69520 h 139039"/>
                <a:gd name="connsiteX8" fmla="*/ 9437 w 139039"/>
                <a:gd name="connsiteY8" fmla="*/ 78957 h 139039"/>
                <a:gd name="connsiteX9" fmla="*/ 60082 w 139039"/>
                <a:gd name="connsiteY9" fmla="*/ 78957 h 139039"/>
                <a:gd name="connsiteX10" fmla="*/ 60082 w 139039"/>
                <a:gd name="connsiteY10" fmla="*/ 129602 h 139039"/>
                <a:gd name="connsiteX11" fmla="*/ 69520 w 139039"/>
                <a:gd name="connsiteY11" fmla="*/ 139039 h 139039"/>
                <a:gd name="connsiteX12" fmla="*/ 78957 w 139039"/>
                <a:gd name="connsiteY12" fmla="*/ 129602 h 139039"/>
                <a:gd name="connsiteX13" fmla="*/ 78957 w 139039"/>
                <a:gd name="connsiteY13" fmla="*/ 78957 h 139039"/>
                <a:gd name="connsiteX14" fmla="*/ 129602 w 139039"/>
                <a:gd name="connsiteY14" fmla="*/ 78957 h 139039"/>
                <a:gd name="connsiteX15" fmla="*/ 139039 w 139039"/>
                <a:gd name="connsiteY15" fmla="*/ 69520 h 139039"/>
                <a:gd name="connsiteX16" fmla="*/ 129602 w 139039"/>
                <a:gd name="connsiteY16" fmla="*/ 60082 h 1390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9" h="139039">
                  <a:moveTo>
                    <a:pt x="129602" y="60082"/>
                  </a:moveTo>
                  <a:lnTo>
                    <a:pt x="78957" y="60082"/>
                  </a:lnTo>
                  <a:lnTo>
                    <a:pt x="78957" y="9437"/>
                  </a:lnTo>
                  <a:cubicBezTo>
                    <a:pt x="78957" y="4225"/>
                    <a:pt x="74731" y="0"/>
                    <a:pt x="69520" y="0"/>
                  </a:cubicBezTo>
                  <a:cubicBezTo>
                    <a:pt x="64308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8"/>
                    <a:pt x="0" y="69520"/>
                  </a:cubicBezTo>
                  <a:cubicBezTo>
                    <a:pt x="0" y="74731"/>
                    <a:pt x="4225" y="78957"/>
                    <a:pt x="9437" y="78957"/>
                  </a:cubicBezTo>
                  <a:lnTo>
                    <a:pt x="60082" y="78957"/>
                  </a:lnTo>
                  <a:lnTo>
                    <a:pt x="60082" y="129602"/>
                  </a:lnTo>
                  <a:cubicBezTo>
                    <a:pt x="60082" y="134814"/>
                    <a:pt x="64308" y="139039"/>
                    <a:pt x="69520" y="139039"/>
                  </a:cubicBezTo>
                  <a:cubicBezTo>
                    <a:pt x="74731" y="139039"/>
                    <a:pt x="78957" y="134814"/>
                    <a:pt x="78957" y="129602"/>
                  </a:cubicBezTo>
                  <a:lnTo>
                    <a:pt x="78957" y="78957"/>
                  </a:lnTo>
                  <a:lnTo>
                    <a:pt x="129602" y="78957"/>
                  </a:lnTo>
                  <a:cubicBezTo>
                    <a:pt x="134814" y="78957"/>
                    <a:pt x="139039" y="74731"/>
                    <a:pt x="139039" y="69520"/>
                  </a:cubicBezTo>
                  <a:cubicBezTo>
                    <a:pt x="139039" y="64308"/>
                    <a:pt x="134814" y="60082"/>
                    <a:pt x="129602" y="60082"/>
                  </a:cubicBezTo>
                  <a:close/>
                </a:path>
              </a:pathLst>
            </a:custGeom>
            <a:solidFill>
              <a:schemeClr val="accent2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4" name="Footer Placeholder 8">
            <a:extLst>
              <a:ext uri="{FF2B5EF4-FFF2-40B4-BE49-F238E27FC236}">
                <a16:creationId xmlns:a16="http://schemas.microsoft.com/office/drawing/2014/main" id="{5189CAD3-7011-6481-11F8-05B5CB106F0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1280160" y="6356350"/>
            <a:ext cx="4114800" cy="365125"/>
          </a:xfrm>
        </p:spPr>
        <p:txBody>
          <a:bodyPr lIns="0" rIns="91440"/>
          <a:lstStyle>
            <a:lvl1pPr algn="l">
              <a:defRPr/>
            </a:lvl1pPr>
          </a:lstStyle>
          <a:p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B7CB27F-7A56-A747-A4D6-5627C24638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71113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+ Subtitle slide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18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280159" y="3383280"/>
            <a:ext cx="10302240" cy="1852046"/>
          </a:xfrm>
        </p:spPr>
        <p:txBody>
          <a:bodyPr lIns="0" tIns="274320" rIns="0" bIns="0" anchor="t" anchorCtr="0"/>
          <a:lstStyle>
            <a:lvl1pPr algn="l">
              <a:lnSpc>
                <a:spcPts val="5400"/>
              </a:lnSpc>
              <a:defRPr sz="5400" b="1" i="0" cap="all" spc="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80FBD9-0977-4B2B-9318-30774BB0947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280158" y="2966886"/>
            <a:ext cx="10302237" cy="397191"/>
          </a:xfrm>
        </p:spPr>
        <p:txBody>
          <a:bodyPr lIns="0" tIns="0" rIns="0" bIns="0" anchor="b" anchorCtr="0">
            <a:normAutofit/>
          </a:bodyPr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2749162-63A5-5BF9-895E-B0577A6C4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0897692" y="620298"/>
            <a:ext cx="465456" cy="581432"/>
            <a:chOff x="7843462" y="2744546"/>
            <a:chExt cx="465456" cy="581432"/>
          </a:xfrm>
        </p:grpSpPr>
        <p:sp>
          <p:nvSpPr>
            <p:cNvPr id="19" name="Graphic 12">
              <a:extLst>
                <a:ext uri="{FF2B5EF4-FFF2-40B4-BE49-F238E27FC236}">
                  <a16:creationId xmlns:a16="http://schemas.microsoft.com/office/drawing/2014/main" id="{818B4386-1FCF-4ACE-BE25-AF9CC5E2256F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" name="Graphic 13">
              <a:extLst>
                <a:ext uri="{FF2B5EF4-FFF2-40B4-BE49-F238E27FC236}">
                  <a16:creationId xmlns:a16="http://schemas.microsoft.com/office/drawing/2014/main" id="{19319560-50ED-4963-A2CF-74663239D426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" name="Graphic 15">
              <a:extLst>
                <a:ext uri="{FF2B5EF4-FFF2-40B4-BE49-F238E27FC236}">
                  <a16:creationId xmlns:a16="http://schemas.microsoft.com/office/drawing/2014/main" id="{E5ABBDAD-943D-48F3-9C80-B29C48966C79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7912362-D30D-7B0B-BA94-0993B1EBC4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280160" y="0"/>
            <a:ext cx="0" cy="2775857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76449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057AE-3B3B-4261-B912-BF9EB9A58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80160" y="685800"/>
            <a:ext cx="9137012" cy="1280160"/>
          </a:xfrm>
        </p:spPr>
        <p:txBody>
          <a:bodyPr lIns="0" tIns="0" rIns="0" bIns="0"/>
          <a:lstStyle>
            <a:lvl1pPr>
              <a:defRPr sz="4000" b="1" cap="all" spc="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0F91A5DB-A2CA-1D70-9A06-3869A288C9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E39CA1-2B6D-427E-9688-9093D5865CB7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280160" y="2327440"/>
            <a:ext cx="4846320" cy="4040574"/>
          </a:xfrm>
        </p:spPr>
        <p:txBody>
          <a:bodyPr lIns="0" tIns="0" rIns="0" bIns="0">
            <a:normAutofit/>
          </a:bodyPr>
          <a:lstStyle>
            <a:lvl1pPr marL="0" indent="0">
              <a:spcAft>
                <a:spcPts val="0"/>
              </a:spcAft>
              <a:buNone/>
              <a:defRPr sz="1800"/>
            </a:lvl1pPr>
            <a:lvl2pPr marL="228600">
              <a:spcBef>
                <a:spcPts val="1200"/>
              </a:spcBef>
              <a:defRPr sz="1800"/>
            </a:lvl2pPr>
            <a:lvl3pPr marL="685800">
              <a:spcBef>
                <a:spcPts val="1200"/>
              </a:spcBef>
              <a:defRPr sz="1800"/>
            </a:lvl3pPr>
            <a:lvl4pPr marL="1143000">
              <a:spcBef>
                <a:spcPts val="1200"/>
              </a:spcBef>
              <a:defRPr sz="1800"/>
            </a:lvl4pPr>
            <a:lvl5pPr marL="1600200">
              <a:spcBef>
                <a:spcPts val="12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7EA593-3036-4FB5-94B4-D9431DF0487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723402" y="2327441"/>
            <a:ext cx="4846320" cy="4040574"/>
          </a:xfrm>
        </p:spPr>
        <p:txBody>
          <a:bodyPr lIns="0" tIns="0" rIns="0" bIns="0">
            <a:normAutofit/>
          </a:bodyPr>
          <a:lstStyle>
            <a:lvl1pPr marL="0" indent="0">
              <a:spcAft>
                <a:spcPts val="0"/>
              </a:spcAft>
              <a:buNone/>
              <a:defRPr sz="1800"/>
            </a:lvl1pPr>
            <a:lvl2pPr marL="228600">
              <a:spcBef>
                <a:spcPts val="1200"/>
              </a:spcBef>
              <a:defRPr sz="1800"/>
            </a:lvl2pPr>
            <a:lvl3pPr marL="685800">
              <a:spcBef>
                <a:spcPts val="1200"/>
              </a:spcBef>
              <a:defRPr sz="1800"/>
            </a:lvl3pPr>
            <a:lvl4pPr marL="1143000">
              <a:spcBef>
                <a:spcPts val="1200"/>
              </a:spcBef>
              <a:defRPr sz="1800"/>
            </a:lvl4pPr>
            <a:lvl5pPr marL="1600200">
              <a:spcBef>
                <a:spcPts val="12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60F34ED-DA60-4CC2-B735-B0EC5D9FEA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Graphic 15">
            <a:extLst>
              <a:ext uri="{FF2B5EF4-FFF2-40B4-BE49-F238E27FC236}">
                <a16:creationId xmlns:a16="http://schemas.microsoft.com/office/drawing/2014/main" id="{A9475260-301F-4744-B1DA-7B00F6FB43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508317" y="492206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accent2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Graphic 16">
            <a:extLst>
              <a:ext uri="{FF2B5EF4-FFF2-40B4-BE49-F238E27FC236}">
                <a16:creationId xmlns:a16="http://schemas.microsoft.com/office/drawing/2014/main" id="{9BBD3F4B-0836-48C5-AC68-747456D1DD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477944" y="1055581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accent2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Graphic 14">
            <a:extLst>
              <a:ext uri="{FF2B5EF4-FFF2-40B4-BE49-F238E27FC236}">
                <a16:creationId xmlns:a16="http://schemas.microsoft.com/office/drawing/2014/main" id="{9B4398D5-99F4-4F83-AA77-9B4177648C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41555" y="446637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accent2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6D6A69CF-70D6-AB12-CD8B-FD75B7EE14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356350"/>
            <a:ext cx="4114800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75955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9EFE408-BFE1-16DC-F7C6-47F55C171A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12992" y="0"/>
            <a:ext cx="5779008" cy="6858000"/>
          </a:xfrm>
          <a:prstGeom prst="rect">
            <a:avLst/>
          </a:prstGeom>
          <a:gradFill flip="none" rotWithShape="1">
            <a:gsLst>
              <a:gs pos="100000">
                <a:schemeClr val="accent4"/>
              </a:gs>
              <a:gs pos="0">
                <a:schemeClr val="accent2"/>
              </a:gs>
            </a:gsLst>
            <a:lin ang="4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F057AE-3B3B-4261-B912-BF9EB9A58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5572" y="685800"/>
            <a:ext cx="4754880" cy="5670550"/>
          </a:xfrm>
        </p:spPr>
        <p:txBody>
          <a:bodyPr lIns="0" tIns="0" rIns="0" bIns="0" anchor="ctr" anchorCtr="0"/>
          <a:lstStyle>
            <a:lvl1pPr algn="l">
              <a:defRPr sz="4000" b="1" cap="all" spc="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2" name="Slide Number Placeholder 21">
            <a:extLst>
              <a:ext uri="{FF2B5EF4-FFF2-40B4-BE49-F238E27FC236}">
                <a16:creationId xmlns:a16="http://schemas.microsoft.com/office/drawing/2014/main" id="{4C0ED5DD-6381-0FFD-7B45-D21179A39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Content Placeholder 5">
            <a:extLst>
              <a:ext uri="{FF2B5EF4-FFF2-40B4-BE49-F238E27FC236}">
                <a16:creationId xmlns:a16="http://schemas.microsoft.com/office/drawing/2014/main" id="{F042E432-AE48-385B-DEA1-32129394CE76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1279526" y="1533524"/>
            <a:ext cx="4663440" cy="1895475"/>
          </a:xfrm>
        </p:spPr>
        <p:txBody>
          <a:bodyPr lIns="0" tIns="0" rIns="0" bIns="0" anchor="t" anchorCtr="0">
            <a:noAutofit/>
          </a:bodyPr>
          <a:lstStyle>
            <a:lvl1pPr marL="342900" indent="-512064">
              <a:spcBef>
                <a:spcPts val="1000"/>
              </a:spcBef>
              <a:buFont typeface="+mj-lt"/>
              <a:buAutoNum type="arabicPeriod"/>
              <a:defRPr sz="1800"/>
            </a:lvl1pPr>
            <a:lvl2pPr marL="1028700" indent="-342900">
              <a:spcBef>
                <a:spcPts val="1200"/>
              </a:spcBef>
              <a:buFont typeface="+mj-lt"/>
              <a:buAutoNum type="alphaLcPeriod"/>
              <a:defRPr sz="1800"/>
            </a:lvl2pPr>
            <a:lvl3pPr marL="1257300" indent="-342900">
              <a:spcBef>
                <a:spcPts val="1200"/>
              </a:spcBef>
              <a:buFont typeface="+mj-lt"/>
              <a:buAutoNum type="arabicParenR"/>
              <a:defRPr sz="1800"/>
            </a:lvl3pPr>
            <a:lvl4pPr marL="1714500" indent="-342900">
              <a:spcBef>
                <a:spcPts val="1200"/>
              </a:spcBef>
              <a:buFont typeface="+mj-lt"/>
              <a:buAutoNum type="alphaLcParenR"/>
              <a:defRPr sz="1800"/>
            </a:lvl4pPr>
            <a:lvl5pPr marL="2228850" indent="-400050">
              <a:spcBef>
                <a:spcPts val="1200"/>
              </a:spcBef>
              <a:buFont typeface="+mj-lt"/>
              <a:buAutoNum type="romanLcPeriod"/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DF111B2E-0535-57E2-FE92-620F9307A956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280160" y="3482974"/>
            <a:ext cx="4663440" cy="1190033"/>
          </a:xfrm>
        </p:spPr>
        <p:txBody>
          <a:bodyPr lIns="0" tIns="0" rIns="0" bIns="0" anchor="t" anchorCtr="0">
            <a:noAutofit/>
          </a:bodyPr>
          <a:lstStyle>
            <a:lvl1pPr marL="0" indent="0">
              <a:spcBef>
                <a:spcPts val="1200"/>
              </a:spcBef>
              <a:buNone/>
              <a:defRPr sz="1800"/>
            </a:lvl1pPr>
            <a:lvl2pPr marL="457200" indent="0">
              <a:spcBef>
                <a:spcPts val="1200"/>
              </a:spcBef>
              <a:buNone/>
              <a:defRPr sz="1600"/>
            </a:lvl2pPr>
            <a:lvl3pPr marL="914400" indent="0">
              <a:spcBef>
                <a:spcPts val="1200"/>
              </a:spcBef>
              <a:buNone/>
              <a:defRPr sz="1400"/>
            </a:lvl3pPr>
            <a:lvl4pPr marL="1371600" indent="0">
              <a:spcBef>
                <a:spcPts val="1200"/>
              </a:spcBef>
              <a:buNone/>
              <a:defRPr sz="1200"/>
            </a:lvl4pPr>
            <a:lvl5pPr marL="1828800" indent="0">
              <a:spcBef>
                <a:spcPts val="1200"/>
              </a:spcBef>
              <a:buNone/>
              <a:defRPr sz="1200"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7EA593-3036-4FB5-94B4-D9431DF0487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1280160" y="4692058"/>
            <a:ext cx="4663440" cy="1584918"/>
          </a:xfrm>
        </p:spPr>
        <p:txBody>
          <a:bodyPr lIns="0" tIns="0" rIns="0" bIns="0" anchor="t" anchorCtr="0">
            <a:noAutofit/>
          </a:bodyPr>
          <a:lstStyle>
            <a:lvl1pPr>
              <a:spcBef>
                <a:spcPts val="1200"/>
              </a:spcBef>
              <a:defRPr sz="1800"/>
            </a:lvl1pPr>
            <a:lvl2pPr>
              <a:spcBef>
                <a:spcPts val="1200"/>
              </a:spcBef>
              <a:defRPr sz="1600"/>
            </a:lvl2pPr>
            <a:lvl3pPr>
              <a:spcBef>
                <a:spcPts val="1200"/>
              </a:spcBef>
              <a:defRPr sz="1400"/>
            </a:lvl3pPr>
            <a:lvl4pPr>
              <a:spcBef>
                <a:spcPts val="1200"/>
              </a:spcBef>
              <a:defRPr sz="1200"/>
            </a:lvl4pPr>
            <a:lvl5pPr>
              <a:spcBef>
                <a:spcPts val="1200"/>
              </a:spcBef>
              <a:defRPr sz="12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1" name="Footer Placeholder 20">
            <a:extLst>
              <a:ext uri="{FF2B5EF4-FFF2-40B4-BE49-F238E27FC236}">
                <a16:creationId xmlns:a16="http://schemas.microsoft.com/office/drawing/2014/main" id="{34C23E1A-9E5E-DA12-8E11-83F486766E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356350"/>
            <a:ext cx="4114800" cy="365125"/>
          </a:xfrm>
        </p:spPr>
        <p:txBody>
          <a:bodyPr lIns="0" rIns="91440"/>
          <a:lstStyle>
            <a:lvl1pPr algn="l">
              <a:defRPr/>
            </a:lvl1pPr>
          </a:lstStyle>
          <a:p>
            <a:endParaRPr lang="en-US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3FE6E42-6A8F-C459-87EE-E2A5BAFA85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93202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0160" y="301752"/>
            <a:ext cx="4663438" cy="2441448"/>
          </a:xfrm>
        </p:spPr>
        <p:txBody>
          <a:bodyPr lIns="0" tIns="0" rIns="0" bIns="0" anchor="ctr" anchorCtr="0"/>
          <a:lstStyle>
            <a:lvl1pPr algn="l">
              <a:lnSpc>
                <a:spcPts val="4000"/>
              </a:lnSpc>
              <a:spcBef>
                <a:spcPts val="1000"/>
              </a:spcBef>
              <a:defRPr sz="4000" b="1" i="0" cap="all" spc="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01EAA4-F44C-4C1F-B8E3-1A3005300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4632" y="726630"/>
            <a:ext cx="520991" cy="517379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FB40175-FA51-DA14-A5B2-CD06DE6ECC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280161" y="2777067"/>
            <a:ext cx="4663440" cy="3550581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10000"/>
              </a:lnSpc>
              <a:buNone/>
              <a:defRPr sz="1800"/>
            </a:lvl1pPr>
            <a:lvl2pPr marL="228600">
              <a:lnSpc>
                <a:spcPct val="110000"/>
              </a:lnSpc>
              <a:defRPr sz="1600"/>
            </a:lvl2pPr>
            <a:lvl3pPr marL="457200">
              <a:lnSpc>
                <a:spcPct val="110000"/>
              </a:lnSpc>
              <a:defRPr sz="1400"/>
            </a:lvl3pPr>
            <a:lvl4pPr marL="685800">
              <a:lnSpc>
                <a:spcPct val="110000"/>
              </a:lnSpc>
              <a:defRPr sz="1200"/>
            </a:lvl4pPr>
            <a:lvl5pPr marL="914400">
              <a:lnSpc>
                <a:spcPct val="110000"/>
              </a:lnSpc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15930B2-E36D-4D05-A6B3-CA1BF61D50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12089" y="0"/>
            <a:ext cx="5779911" cy="6858000"/>
          </a:xfrm>
          <a:prstGeom prst="rect">
            <a:avLst/>
          </a:prstGeom>
          <a:gradFill flip="none" rotWithShape="1">
            <a:gsLst>
              <a:gs pos="100000">
                <a:schemeClr val="accent4"/>
              </a:gs>
              <a:gs pos="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9CEC7E0F-60E8-418B-978D-C607C82E97F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695553" y="301752"/>
            <a:ext cx="5221224" cy="6263640"/>
          </a:xfrm>
        </p:spPr>
        <p:txBody>
          <a:bodyPr tIns="914400" anchor="t" anchorCtr="0"/>
          <a:lstStyle>
            <a:lvl1pPr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10" name="Footer Placeholder 8">
            <a:extLst>
              <a:ext uri="{FF2B5EF4-FFF2-40B4-BE49-F238E27FC236}">
                <a16:creationId xmlns:a16="http://schemas.microsoft.com/office/drawing/2014/main" id="{7A4AE671-C203-0370-2888-FC8F7D444D1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1280160" y="6356350"/>
            <a:ext cx="4434825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792BFA8-57AD-0B5C-2534-1E862B58DA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5127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868079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ima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80159" y="640080"/>
            <a:ext cx="4815836" cy="2103120"/>
          </a:xfrm>
        </p:spPr>
        <p:txBody>
          <a:bodyPr lIns="0" tIns="0" rIns="0" bIns="0" anchor="ctr" anchorCtr="0"/>
          <a:lstStyle>
            <a:lvl1pPr algn="l">
              <a:defRPr sz="4000" b="1" cap="all" spc="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6183E8BD-29F0-8F9F-FC7D-73F8067BCDDF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C983CA3-739C-6C20-AFE0-0997370354B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531427" y="640080"/>
            <a:ext cx="5122889" cy="2103120"/>
          </a:xfrm>
        </p:spPr>
        <p:txBody>
          <a:bodyPr lIns="0" tIns="0" rIns="0" bIns="0" anchor="ctr" anchorCtr="0">
            <a:normAutofit/>
          </a:bodyPr>
          <a:lstStyle>
            <a:lvl1pPr marL="0" indent="0">
              <a:lnSpc>
                <a:spcPct val="110000"/>
              </a:lnSpc>
              <a:buNone/>
              <a:defRPr sz="1800">
                <a:solidFill>
                  <a:schemeClr val="tx1"/>
                </a:solidFill>
              </a:defRPr>
            </a:lvl1pPr>
            <a:lvl2pPr marL="228600">
              <a:lnSpc>
                <a:spcPct val="100000"/>
              </a:lnSpc>
              <a:defRPr sz="1600">
                <a:solidFill>
                  <a:schemeClr val="tx1"/>
                </a:solidFill>
              </a:defRPr>
            </a:lvl2pPr>
            <a:lvl3pPr marL="457200">
              <a:lnSpc>
                <a:spcPct val="100000"/>
              </a:lnSpc>
              <a:defRPr sz="1400">
                <a:solidFill>
                  <a:schemeClr val="tx1"/>
                </a:solidFill>
              </a:defRPr>
            </a:lvl3pPr>
            <a:lvl4pPr marL="685800">
              <a:lnSpc>
                <a:spcPct val="100000"/>
              </a:lnSpc>
              <a:defRPr sz="1200">
                <a:solidFill>
                  <a:schemeClr val="tx1"/>
                </a:solidFill>
              </a:defRPr>
            </a:lvl4pPr>
            <a:lvl5pPr>
              <a:defRPr sz="1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BC9F29C-BBE9-AFB4-AFC6-30BCA4EB2A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BC4D286-C480-B4CF-4406-CACC323F9FAD}"/>
              </a:ext>
            </a:extLst>
          </p:cNvPr>
          <p:cNvSpPr>
            <a:spLocks noGrp="1"/>
          </p:cNvSpPr>
          <p:nvPr>
            <p:ph idx="21" hasCustomPrompt="1"/>
          </p:nvPr>
        </p:nvSpPr>
        <p:spPr>
          <a:xfrm>
            <a:off x="1280160" y="3017520"/>
            <a:ext cx="10374152" cy="3208866"/>
          </a:xfrm>
        </p:spPr>
        <p:txBody>
          <a:bodyPr/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0BEE2817-4518-D59A-BD13-29A3D4FE64F0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7539516" y="6356350"/>
            <a:ext cx="4114800" cy="365125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89052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057AE-3B3B-4261-B912-BF9EB9A58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0159" y="4970638"/>
            <a:ext cx="9144000" cy="1280160"/>
          </a:xfrm>
        </p:spPr>
        <p:txBody>
          <a:bodyPr lIns="0" tIns="0" rIns="0" bIns="0" anchor="b" anchorCtr="0"/>
          <a:lstStyle>
            <a:lvl1pPr algn="l">
              <a:defRPr sz="4000" b="1" cap="all" spc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2" name="Slide Number Placeholder 21">
            <a:extLst>
              <a:ext uri="{FF2B5EF4-FFF2-40B4-BE49-F238E27FC236}">
                <a16:creationId xmlns:a16="http://schemas.microsoft.com/office/drawing/2014/main" id="{F0626849-9D2D-3C95-8C10-FA8F325FE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E39CA1-2B6D-427E-9688-9093D5865CB7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280160" y="685800"/>
            <a:ext cx="4937760" cy="4023360"/>
          </a:xfrm>
        </p:spPr>
        <p:txBody>
          <a:bodyPr lIns="0" tIns="0" rIns="0" bIns="0">
            <a:noAutofit/>
          </a:bodyPr>
          <a:lstStyle>
            <a:lvl1pPr marL="0" indent="0">
              <a:spcBef>
                <a:spcPts val="1200"/>
              </a:spcBef>
              <a:buNone/>
              <a:defRPr sz="1800"/>
            </a:lvl1pPr>
            <a:lvl2pPr marL="457200">
              <a:spcBef>
                <a:spcPts val="1200"/>
              </a:spcBef>
              <a:defRPr sz="1800"/>
            </a:lvl2pPr>
            <a:lvl3pPr marL="914400">
              <a:spcBef>
                <a:spcPts val="1200"/>
              </a:spcBef>
              <a:defRPr sz="1800"/>
            </a:lvl3pPr>
            <a:lvl4pPr marL="1371600">
              <a:spcBef>
                <a:spcPts val="1200"/>
              </a:spcBef>
              <a:defRPr sz="1800"/>
            </a:lvl4pPr>
            <a:lvl5pPr marL="1828800">
              <a:spcBef>
                <a:spcPts val="12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7EA593-3036-4FB5-94B4-D9431DF0487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704755" y="685800"/>
            <a:ext cx="4937760" cy="4023360"/>
          </a:xfrm>
        </p:spPr>
        <p:txBody>
          <a:bodyPr lIns="0" tIns="0" rIns="0" bIns="0">
            <a:noAutofit/>
          </a:bodyPr>
          <a:lstStyle>
            <a:lvl1pPr>
              <a:spcBef>
                <a:spcPts val="1200"/>
              </a:spcBef>
              <a:defRPr sz="1800"/>
            </a:lvl1pPr>
            <a:lvl2pPr>
              <a:spcBef>
                <a:spcPts val="1200"/>
              </a:spcBef>
              <a:defRPr sz="1800"/>
            </a:lvl2pPr>
            <a:lvl3pPr>
              <a:spcBef>
                <a:spcPts val="1200"/>
              </a:spcBef>
              <a:defRPr sz="1800"/>
            </a:lvl3pPr>
            <a:lvl4pPr>
              <a:spcBef>
                <a:spcPts val="1200"/>
              </a:spcBef>
              <a:defRPr sz="1800"/>
            </a:lvl4pPr>
            <a:lvl5pPr>
              <a:spcBef>
                <a:spcPts val="12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717D91C-F78C-0E4C-FB27-7112AB840A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322570" y="5680647"/>
            <a:ext cx="465456" cy="581432"/>
            <a:chOff x="7843462" y="2744546"/>
            <a:chExt cx="465456" cy="581432"/>
          </a:xfrm>
        </p:grpSpPr>
        <p:sp>
          <p:nvSpPr>
            <p:cNvPr id="15" name="Graphic 12">
              <a:extLst>
                <a:ext uri="{FF2B5EF4-FFF2-40B4-BE49-F238E27FC236}">
                  <a16:creationId xmlns:a16="http://schemas.microsoft.com/office/drawing/2014/main" id="{CC935CF3-75DF-0DC7-1B2A-E0E0205DF64B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" name="Graphic 13">
              <a:extLst>
                <a:ext uri="{FF2B5EF4-FFF2-40B4-BE49-F238E27FC236}">
                  <a16:creationId xmlns:a16="http://schemas.microsoft.com/office/drawing/2014/main" id="{D5782BEB-6319-DEC1-F9ED-BA9201C6B9B7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" name="Graphic 15">
              <a:extLst>
                <a:ext uri="{FF2B5EF4-FFF2-40B4-BE49-F238E27FC236}">
                  <a16:creationId xmlns:a16="http://schemas.microsoft.com/office/drawing/2014/main" id="{6E59DFAF-9794-BD12-D89A-422FFFFCE023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1" name="Footer Placeholder 20">
            <a:extLst>
              <a:ext uri="{FF2B5EF4-FFF2-40B4-BE49-F238E27FC236}">
                <a16:creationId xmlns:a16="http://schemas.microsoft.com/office/drawing/2014/main" id="{36444A47-BCB3-5C86-F2B8-25092BE8D9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356350"/>
            <a:ext cx="4114800" cy="365125"/>
          </a:xfrm>
        </p:spPr>
        <p:txBody>
          <a:bodyPr lIns="0" rIns="91440"/>
          <a:lstStyle>
            <a:lvl1pPr algn="l">
              <a:defRPr/>
            </a:lvl1pPr>
          </a:lstStyle>
          <a:p>
            <a:endParaRPr lang="en-US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648C53D-49AB-C003-70E8-5117AF0797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96BC1DE-6696-3408-564E-2D73B12663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5400000">
            <a:off x="10711518" y="5393214"/>
            <a:ext cx="1097341" cy="736658"/>
            <a:chOff x="10508317" y="446637"/>
            <a:chExt cx="1097341" cy="736658"/>
          </a:xfrm>
        </p:grpSpPr>
        <p:sp>
          <p:nvSpPr>
            <p:cNvPr id="25" name="Graphic 15">
              <a:extLst>
                <a:ext uri="{FF2B5EF4-FFF2-40B4-BE49-F238E27FC236}">
                  <a16:creationId xmlns:a16="http://schemas.microsoft.com/office/drawing/2014/main" id="{268EB1E4-29D6-C3F5-BCBB-FB7E7EE5C2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0508317" y="492206"/>
              <a:ext cx="139039" cy="139039"/>
            </a:xfrm>
            <a:custGeom>
              <a:avLst/>
              <a:gdLst>
                <a:gd name="connsiteX0" fmla="*/ 129602 w 139039"/>
                <a:gd name="connsiteY0" fmla="*/ 60082 h 139039"/>
                <a:gd name="connsiteX1" fmla="*/ 78957 w 139039"/>
                <a:gd name="connsiteY1" fmla="*/ 60082 h 139039"/>
                <a:gd name="connsiteX2" fmla="*/ 78957 w 139039"/>
                <a:gd name="connsiteY2" fmla="*/ 9437 h 139039"/>
                <a:gd name="connsiteX3" fmla="*/ 69520 w 139039"/>
                <a:gd name="connsiteY3" fmla="*/ 0 h 139039"/>
                <a:gd name="connsiteX4" fmla="*/ 60082 w 139039"/>
                <a:gd name="connsiteY4" fmla="*/ 9437 h 139039"/>
                <a:gd name="connsiteX5" fmla="*/ 60082 w 139039"/>
                <a:gd name="connsiteY5" fmla="*/ 60082 h 139039"/>
                <a:gd name="connsiteX6" fmla="*/ 9437 w 139039"/>
                <a:gd name="connsiteY6" fmla="*/ 60082 h 139039"/>
                <a:gd name="connsiteX7" fmla="*/ 0 w 139039"/>
                <a:gd name="connsiteY7" fmla="*/ 69520 h 139039"/>
                <a:gd name="connsiteX8" fmla="*/ 9437 w 139039"/>
                <a:gd name="connsiteY8" fmla="*/ 78957 h 139039"/>
                <a:gd name="connsiteX9" fmla="*/ 60082 w 139039"/>
                <a:gd name="connsiteY9" fmla="*/ 78957 h 139039"/>
                <a:gd name="connsiteX10" fmla="*/ 60082 w 139039"/>
                <a:gd name="connsiteY10" fmla="*/ 129602 h 139039"/>
                <a:gd name="connsiteX11" fmla="*/ 69520 w 139039"/>
                <a:gd name="connsiteY11" fmla="*/ 139039 h 139039"/>
                <a:gd name="connsiteX12" fmla="*/ 78957 w 139039"/>
                <a:gd name="connsiteY12" fmla="*/ 129602 h 139039"/>
                <a:gd name="connsiteX13" fmla="*/ 78957 w 139039"/>
                <a:gd name="connsiteY13" fmla="*/ 78957 h 139039"/>
                <a:gd name="connsiteX14" fmla="*/ 129602 w 139039"/>
                <a:gd name="connsiteY14" fmla="*/ 78957 h 139039"/>
                <a:gd name="connsiteX15" fmla="*/ 139039 w 139039"/>
                <a:gd name="connsiteY15" fmla="*/ 69520 h 139039"/>
                <a:gd name="connsiteX16" fmla="*/ 129602 w 139039"/>
                <a:gd name="connsiteY16" fmla="*/ 60082 h 1390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9" h="139039">
                  <a:moveTo>
                    <a:pt x="129602" y="60082"/>
                  </a:moveTo>
                  <a:lnTo>
                    <a:pt x="78957" y="60082"/>
                  </a:lnTo>
                  <a:lnTo>
                    <a:pt x="78957" y="9437"/>
                  </a:lnTo>
                  <a:cubicBezTo>
                    <a:pt x="78957" y="4225"/>
                    <a:pt x="74731" y="0"/>
                    <a:pt x="69520" y="0"/>
                  </a:cubicBezTo>
                  <a:cubicBezTo>
                    <a:pt x="64308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8"/>
                    <a:pt x="0" y="69520"/>
                  </a:cubicBezTo>
                  <a:cubicBezTo>
                    <a:pt x="0" y="74731"/>
                    <a:pt x="4225" y="78957"/>
                    <a:pt x="9437" y="78957"/>
                  </a:cubicBezTo>
                  <a:lnTo>
                    <a:pt x="60082" y="78957"/>
                  </a:lnTo>
                  <a:lnTo>
                    <a:pt x="60082" y="129602"/>
                  </a:lnTo>
                  <a:cubicBezTo>
                    <a:pt x="60082" y="134814"/>
                    <a:pt x="64308" y="139039"/>
                    <a:pt x="69520" y="139039"/>
                  </a:cubicBezTo>
                  <a:cubicBezTo>
                    <a:pt x="74731" y="139039"/>
                    <a:pt x="78957" y="134814"/>
                    <a:pt x="78957" y="129602"/>
                  </a:cubicBezTo>
                  <a:lnTo>
                    <a:pt x="78957" y="78957"/>
                  </a:lnTo>
                  <a:lnTo>
                    <a:pt x="129602" y="78957"/>
                  </a:lnTo>
                  <a:cubicBezTo>
                    <a:pt x="134814" y="78957"/>
                    <a:pt x="139039" y="74731"/>
                    <a:pt x="139039" y="69520"/>
                  </a:cubicBezTo>
                  <a:cubicBezTo>
                    <a:pt x="139039" y="64308"/>
                    <a:pt x="134814" y="60082"/>
                    <a:pt x="129602" y="60082"/>
                  </a:cubicBezTo>
                  <a:close/>
                </a:path>
              </a:pathLst>
            </a:custGeom>
            <a:solidFill>
              <a:schemeClr val="accent2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" name="Graphic 16">
              <a:extLst>
                <a:ext uri="{FF2B5EF4-FFF2-40B4-BE49-F238E27FC236}">
                  <a16:creationId xmlns:a16="http://schemas.microsoft.com/office/drawing/2014/main" id="{09524D46-140F-2F4F-430B-F59815A07C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1477944" y="1055581"/>
              <a:ext cx="127714" cy="127714"/>
            </a:xfrm>
            <a:custGeom>
              <a:avLst/>
              <a:gdLst>
                <a:gd name="connsiteX0" fmla="*/ 63857 w 127714"/>
                <a:gd name="connsiteY0" fmla="*/ 18874 h 127714"/>
                <a:gd name="connsiteX1" fmla="*/ 108840 w 127714"/>
                <a:gd name="connsiteY1" fmla="*/ 63857 h 127714"/>
                <a:gd name="connsiteX2" fmla="*/ 63857 w 127714"/>
                <a:gd name="connsiteY2" fmla="*/ 108840 h 127714"/>
                <a:gd name="connsiteX3" fmla="*/ 18874 w 127714"/>
                <a:gd name="connsiteY3" fmla="*/ 63857 h 127714"/>
                <a:gd name="connsiteX4" fmla="*/ 63857 w 127714"/>
                <a:gd name="connsiteY4" fmla="*/ 18874 h 127714"/>
                <a:gd name="connsiteX5" fmla="*/ 63857 w 127714"/>
                <a:gd name="connsiteY5" fmla="*/ 0 h 127714"/>
                <a:gd name="connsiteX6" fmla="*/ 0 w 127714"/>
                <a:gd name="connsiteY6" fmla="*/ 63857 h 127714"/>
                <a:gd name="connsiteX7" fmla="*/ 63857 w 127714"/>
                <a:gd name="connsiteY7" fmla="*/ 127714 h 127714"/>
                <a:gd name="connsiteX8" fmla="*/ 127714 w 127714"/>
                <a:gd name="connsiteY8" fmla="*/ 63857 h 127714"/>
                <a:gd name="connsiteX9" fmla="*/ 63857 w 127714"/>
                <a:gd name="connsiteY9" fmla="*/ 0 h 127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4" h="127714">
                  <a:moveTo>
                    <a:pt x="63857" y="18874"/>
                  </a:moveTo>
                  <a:cubicBezTo>
                    <a:pt x="88700" y="18874"/>
                    <a:pt x="108840" y="39014"/>
                    <a:pt x="108840" y="63857"/>
                  </a:cubicBezTo>
                  <a:cubicBezTo>
                    <a:pt x="108840" y="88700"/>
                    <a:pt x="88700" y="108840"/>
                    <a:pt x="63857" y="108840"/>
                  </a:cubicBezTo>
                  <a:cubicBezTo>
                    <a:pt x="39014" y="108840"/>
                    <a:pt x="18874" y="88700"/>
                    <a:pt x="18874" y="63857"/>
                  </a:cubicBezTo>
                  <a:cubicBezTo>
                    <a:pt x="18898" y="39024"/>
                    <a:pt x="39024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4"/>
                    <a:pt x="63857" y="127714"/>
                  </a:cubicBezTo>
                  <a:cubicBezTo>
                    <a:pt x="99124" y="127714"/>
                    <a:pt x="127714" y="99124"/>
                    <a:pt x="127714" y="63857"/>
                  </a:cubicBezTo>
                  <a:cubicBezTo>
                    <a:pt x="127714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accent2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" name="Graphic 14">
              <a:extLst>
                <a:ext uri="{FF2B5EF4-FFF2-40B4-BE49-F238E27FC236}">
                  <a16:creationId xmlns:a16="http://schemas.microsoft.com/office/drawing/2014/main" id="{AC75143B-C717-8D04-743C-B40FB5EFB2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1241555" y="446637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accent2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48737642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96CF8C-1EA0-4E47-AC60-CAC3B80A3C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80160" y="640080"/>
            <a:ext cx="10087699" cy="1280160"/>
          </a:xfrm>
        </p:spPr>
        <p:txBody>
          <a:bodyPr lIns="0" tIns="0" rIns="0" bIns="0" anchor="b" anchorCtr="0"/>
          <a:lstStyle>
            <a:lvl1pPr>
              <a:defRPr sz="4000" b="1" cap="all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16B8DF0-B7E6-5032-C3C7-E457E793BE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CABF8-19D8-4F3C-994F-4D35EC7A2C3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280160" y="2103119"/>
            <a:ext cx="10087699" cy="4114800"/>
          </a:xfrm>
        </p:spPr>
        <p:txBody>
          <a:bodyPr lIns="0" tIns="0" rIns="0" bIns="0"/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C05CAAB-DBA2-4548-AD5F-01BB97FBB2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C5F4D40-ADE4-5EEB-436C-8563A49C55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356350"/>
            <a:ext cx="4114800" cy="365125"/>
          </a:xfrm>
        </p:spPr>
        <p:txBody>
          <a:bodyPr lIns="0"/>
          <a:lstStyle>
            <a:lvl1pPr algn="l">
              <a:defRPr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17450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Bubbles and Title 1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2897" y="585216"/>
            <a:ext cx="8965094" cy="2276856"/>
          </a:xfrm>
        </p:spPr>
        <p:txBody>
          <a:bodyPr lIns="0" tIns="0" rIns="0" anchor="b"/>
          <a:lstStyle>
            <a:lvl1pPr algn="r">
              <a:lnSpc>
                <a:spcPts val="4800"/>
              </a:lnSpc>
              <a:defRPr sz="4800" b="1" cap="all" spc="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Picture Placeholder 14">
            <a:extLst>
              <a:ext uri="{FF2B5EF4-FFF2-40B4-BE49-F238E27FC236}">
                <a16:creationId xmlns:a16="http://schemas.microsoft.com/office/drawing/2014/main" id="{FC9B12A4-113B-B3F6-5926-5C2A6F504AB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371606" y="3205313"/>
            <a:ext cx="3043077" cy="3043083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tIns="914400" anchor="t" anchorCtr="0">
            <a:noAutofit/>
          </a:bodyPr>
          <a:lstStyle>
            <a:lvl1pPr algn="ctr">
              <a:buNone/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928810C-E773-43AE-A2A1-4073955CC8D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640609" y="3127248"/>
            <a:ext cx="6117381" cy="3017520"/>
          </a:xfrm>
        </p:spPr>
        <p:txBody>
          <a:bodyPr lIns="0" tIns="0" rIns="0" bIns="0">
            <a:normAutofit/>
          </a:bodyPr>
          <a:lstStyle>
            <a:lvl1pPr marL="0" indent="0" algn="r">
              <a:spcBef>
                <a:spcPts val="1200"/>
              </a:spcBef>
              <a:buNone/>
              <a:defRPr sz="2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8AF51D36-DB19-27CD-47E0-A4261648DA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8614240">
            <a:off x="3975343" y="2819532"/>
            <a:ext cx="465456" cy="581432"/>
            <a:chOff x="7843462" y="2744546"/>
            <a:chExt cx="465456" cy="581432"/>
          </a:xfrm>
        </p:grpSpPr>
        <p:sp>
          <p:nvSpPr>
            <p:cNvPr id="4" name="Graphic 12">
              <a:extLst>
                <a:ext uri="{FF2B5EF4-FFF2-40B4-BE49-F238E27FC236}">
                  <a16:creationId xmlns:a16="http://schemas.microsoft.com/office/drawing/2014/main" id="{3EFED0E0-17D4-C5B0-09D0-B43338A856B3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" name="Graphic 13">
              <a:extLst>
                <a:ext uri="{FF2B5EF4-FFF2-40B4-BE49-F238E27FC236}">
                  <a16:creationId xmlns:a16="http://schemas.microsoft.com/office/drawing/2014/main" id="{8F798BBE-9B6F-700D-08A1-09ABC5388CCE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" name="Graphic 15">
              <a:extLst>
                <a:ext uri="{FF2B5EF4-FFF2-40B4-BE49-F238E27FC236}">
                  <a16:creationId xmlns:a16="http://schemas.microsoft.com/office/drawing/2014/main" id="{4AE2D1C5-9D85-9049-690C-3AFCE7E2DA56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0FE75D-ACD3-655E-58A7-8F2C182760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3503032"/>
            <a:ext cx="0" cy="334609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1936263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136525"/>
            <a:ext cx="10515600" cy="1509713"/>
          </a:xfrm>
        </p:spPr>
        <p:txBody>
          <a:bodyPr/>
          <a:lstStyle/>
          <a:p>
            <a:r>
              <a:rPr lang="en-US" dirty="0"/>
              <a:t>Click to add title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EBC03C0-6EB7-4633-967C-12C35768B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2390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FF4306-91CD-4B7B-8A53-34BE8F997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4632" y="726630"/>
            <a:ext cx="520991" cy="517379"/>
          </a:xfrm>
        </p:spPr>
        <p:txBody>
          <a:bodyPr/>
          <a:lstStyle/>
          <a:p>
            <a:fld id="{D8DA9DAA-006C-4F4B-980E-E3DF019B24E2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B5B2B208-F5B9-0151-C982-A389CB0B29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15890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329100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20EEA6CA-DE1E-18ED-E69E-54A1372FE2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15890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F973C81-5E94-41F6-CE15-3B4763B3AB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C835B5C-F994-9D57-3118-919EE90F5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08676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FDA4224-F4E4-47A4-ACF7-2317493908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5394" y="1"/>
            <a:ext cx="9918405" cy="1646237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679907-DC49-4B86-A34C-C97DBC26A9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35394" y="1825625"/>
            <a:ext cx="991840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C0E9BD-90BD-46AE-8A0D-06796ADB76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86121" y="726630"/>
            <a:ext cx="520991" cy="517379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ctr">
              <a:defRPr sz="1800" b="1" i="0" cap="all" spc="100" baseline="0">
                <a:solidFill>
                  <a:schemeClr val="accent2"/>
                </a:solidFill>
              </a:defRPr>
            </a:lvl1pPr>
          </a:lstStyle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EF1C86-6A9C-D287-D381-5634A69BF1C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435394" y="6356350"/>
            <a:ext cx="2743200" cy="365125"/>
          </a:xfrm>
          <a:prstGeom prst="rect">
            <a:avLst/>
          </a:prstGeom>
        </p:spPr>
        <p:txBody>
          <a:bodyPr vert="horz" lIns="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1B8477-3F24-EDCB-C8AC-8433636391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238999" y="6356350"/>
            <a:ext cx="4114800" cy="365125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97138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17" r:id="rId2"/>
    <p:sldLayoutId id="2147483728" r:id="rId3"/>
    <p:sldLayoutId id="2147483729" r:id="rId4"/>
    <p:sldLayoutId id="2147483710" r:id="rId5"/>
    <p:sldLayoutId id="2147483727" r:id="rId6"/>
    <p:sldLayoutId id="2147483701" r:id="rId7"/>
    <p:sldLayoutId id="2147483721" r:id="rId8"/>
    <p:sldLayoutId id="2147483720" r:id="rId9"/>
    <p:sldLayoutId id="2147483730" r:id="rId10"/>
    <p:sldLayoutId id="2147483722" r:id="rId11"/>
    <p:sldLayoutId id="2147483698" r:id="rId12"/>
    <p:sldLayoutId id="2147483732" r:id="rId13"/>
    <p:sldLayoutId id="2147483702" r:id="rId14"/>
    <p:sldLayoutId id="2147483703" r:id="rId15"/>
  </p:sldLayoutIdLst>
  <p:hf sldNum="0" hdr="0" ftr="0"/>
  <p:txStyles>
    <p:titleStyle>
      <a:lvl1pPr algn="l" defTabSz="914400" rtl="0" eaLnBrk="1" latinLnBrk="0" hangingPunct="1">
        <a:lnSpc>
          <a:spcPts val="4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Relationship Id="rId4" Type="http://schemas.openxmlformats.org/officeDocument/2006/relationships/hyperlink" Target="https://pxhere.com/en/photo/924518" TargetMode="Externa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eg"/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6.png"/><Relationship Id="rId4" Type="http://schemas.microsoft.com/office/2007/relationships/hdphoto" Target="../media/hdphoto1.wdp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7.jpeg"/><Relationship Id="rId4" Type="http://schemas.microsoft.com/office/2007/relationships/hdphoto" Target="../media/hdphoto1.wdp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9.jpe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" descr="NGC 602 (Webb image) | ESA/Webb">
            <a:extLst>
              <a:ext uri="{FF2B5EF4-FFF2-40B4-BE49-F238E27FC236}">
                <a16:creationId xmlns:a16="http://schemas.microsoft.com/office/drawing/2014/main" id="{DA8DAB0C-DA87-D735-17E6-D89675C6963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solidFill>
            <a:srgbClr val="AC6577"/>
          </a:solidFill>
          <a:ln w="19050">
            <a:solidFill>
              <a:schemeClr val="tx1"/>
            </a:solidFill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3A9968B-2619-4F71-AB00-4C493E1208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97259" y="1427584"/>
            <a:ext cx="9397482" cy="3862873"/>
          </a:xfrm>
          <a:solidFill>
            <a:srgbClr val="A0484E"/>
          </a:solidFill>
          <a:ln w="19050">
            <a:solidFill>
              <a:schemeClr val="bg1"/>
            </a:solidFill>
          </a:ln>
        </p:spPr>
        <p:txBody>
          <a:bodyPr anchor="ctr"/>
          <a:lstStyle/>
          <a:p>
            <a:pPr algn="ctr"/>
            <a:r>
              <a:rPr lang="en-US" sz="5000" dirty="0"/>
              <a:t>Predicting Earth-Like Similarity in Exoplanets </a:t>
            </a:r>
            <a:br>
              <a:rPr lang="en-US" sz="5000" dirty="0"/>
            </a:br>
            <a:r>
              <a:rPr lang="en-US" sz="5000" dirty="0"/>
              <a:t>Using Machine Learning</a:t>
            </a:r>
            <a:br>
              <a:rPr lang="en-US" sz="5000" dirty="0"/>
            </a:br>
            <a:r>
              <a:rPr lang="en-US" sz="3000" dirty="0"/>
              <a:t>BY: Samia Mahmood</a:t>
            </a:r>
          </a:p>
        </p:txBody>
      </p:sp>
    </p:spTree>
    <p:extLst>
      <p:ext uri="{BB962C8B-B14F-4D97-AF65-F5344CB8AC3E}">
        <p14:creationId xmlns:p14="http://schemas.microsoft.com/office/powerpoint/2010/main" val="29554030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247ABD4-990A-BAC8-69FC-AF4C84F3AD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0160" y="301752"/>
            <a:ext cx="4663438" cy="2441448"/>
          </a:xfrm>
        </p:spPr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1E6A21B-7748-174B-D77E-8EE0B288C7D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045029" y="2258009"/>
            <a:ext cx="4898572" cy="4069640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Data from NASA’s Exoplanet Archive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Over 6,071 confirmed exoplanets as of 2026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Discovered mainly by:</a:t>
            </a:r>
          </a:p>
          <a:p>
            <a:pPr marL="514350" lvl="1" indent="-285750"/>
            <a:r>
              <a:rPr lang="en-US" dirty="0"/>
              <a:t>Kepler Telescope</a:t>
            </a:r>
          </a:p>
          <a:p>
            <a:pPr marL="514350" lvl="1" indent="-285750"/>
            <a:r>
              <a:rPr lang="en-US" dirty="0"/>
              <a:t>K2 Telescope</a:t>
            </a:r>
          </a:p>
          <a:p>
            <a:pPr marL="514350" lvl="1" indent="-285750"/>
            <a:r>
              <a:rPr lang="en-US" dirty="0"/>
              <a:t>TESS Telescopes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Discoveries revolutionized by advancements in missions and telescopes</a:t>
            </a:r>
          </a:p>
        </p:txBody>
      </p:sp>
      <p:pic>
        <p:nvPicPr>
          <p:cNvPr id="13" name="Picture 57" descr="E:\URW-2016\kepler.png">
            <a:extLst>
              <a:ext uri="{FF2B5EF4-FFF2-40B4-BE49-F238E27FC236}">
                <a16:creationId xmlns:a16="http://schemas.microsoft.com/office/drawing/2014/main" id="{158DB80A-A893-B090-9627-900F38699D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93768" y="205371"/>
            <a:ext cx="2843115" cy="1902768"/>
          </a:xfrm>
          <a:prstGeom prst="rect">
            <a:avLst/>
          </a:prstGeom>
          <a:noFill/>
          <a:ln w="19050">
            <a:solidFill>
              <a:schemeClr val="bg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3139">
            <a:extLst>
              <a:ext uri="{FF2B5EF4-FFF2-40B4-BE49-F238E27FC236}">
                <a16:creationId xmlns:a16="http://schemas.microsoft.com/office/drawing/2014/main" id="{82835007-CF3E-A1A1-0A04-1B3D49E0ABB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170265" y="2332143"/>
            <a:ext cx="2735263" cy="2058988"/>
          </a:xfrm>
          <a:prstGeom prst="rect">
            <a:avLst/>
          </a:prstGeom>
          <a:noFill/>
          <a:ln w="19050">
            <a:solidFill>
              <a:schemeClr val="bg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3140">
            <a:extLst>
              <a:ext uri="{FF2B5EF4-FFF2-40B4-BE49-F238E27FC236}">
                <a16:creationId xmlns:a16="http://schemas.microsoft.com/office/drawing/2014/main" id="{1B78D7FF-9A51-D47A-012E-9812ED764F9A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974633" y="4633216"/>
            <a:ext cx="2762250" cy="2071687"/>
          </a:xfrm>
          <a:prstGeom prst="rect">
            <a:avLst/>
          </a:prstGeom>
          <a:noFill/>
          <a:ln w="19050">
            <a:solidFill>
              <a:schemeClr val="bg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6750FC67-9A39-FC52-214B-331404CBC75D}"/>
              </a:ext>
            </a:extLst>
          </p:cNvPr>
          <p:cNvSpPr txBox="1"/>
          <p:nvPr/>
        </p:nvSpPr>
        <p:spPr>
          <a:xfrm>
            <a:off x="8824425" y="301752"/>
            <a:ext cx="9820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Kepler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166C857-51C1-9C99-5769-C64D940620E8}"/>
              </a:ext>
            </a:extLst>
          </p:cNvPr>
          <p:cNvSpPr txBox="1"/>
          <p:nvPr/>
        </p:nvSpPr>
        <p:spPr>
          <a:xfrm>
            <a:off x="11349190" y="2360135"/>
            <a:ext cx="9820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K2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363ED67-1F53-2A5E-2691-977E9214D51E}"/>
              </a:ext>
            </a:extLst>
          </p:cNvPr>
          <p:cNvSpPr txBox="1"/>
          <p:nvPr/>
        </p:nvSpPr>
        <p:spPr>
          <a:xfrm>
            <a:off x="8927061" y="4707861"/>
            <a:ext cx="9820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TESS</a:t>
            </a:r>
          </a:p>
        </p:txBody>
      </p:sp>
    </p:spTree>
    <p:extLst>
      <p:ext uri="{BB962C8B-B14F-4D97-AF65-F5344CB8AC3E}">
        <p14:creationId xmlns:p14="http://schemas.microsoft.com/office/powerpoint/2010/main" val="36381115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F64C0E11-7DE4-D558-C3EF-9B3C7A9BF1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800" y="0"/>
            <a:ext cx="7498080" cy="1651518"/>
          </a:xfrm>
        </p:spPr>
        <p:txBody>
          <a:bodyPr/>
          <a:lstStyle/>
          <a:p>
            <a:r>
              <a:rPr lang="en-US" dirty="0"/>
              <a:t>Motivation: Problem to solve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418541-7290-F1A9-2357-CA26E074EF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3911" y="2080727"/>
            <a:ext cx="8028969" cy="4137193"/>
          </a:xfrm>
        </p:spPr>
        <p:txBody>
          <a:bodyPr/>
          <a:lstStyle/>
          <a:p>
            <a:pPr marL="800100" lvl="1" indent="-342900"/>
            <a:r>
              <a:rPr lang="en-US" sz="2000" b="1" dirty="0"/>
              <a:t>Rapid growth</a:t>
            </a:r>
            <a:r>
              <a:rPr lang="en-US" sz="2000" dirty="0"/>
              <a:t> of exoplanet discoveries creates challenges in studying exoplanets</a:t>
            </a:r>
          </a:p>
          <a:p>
            <a:pPr marL="457200" lvl="1" indent="0">
              <a:buNone/>
            </a:pPr>
            <a:endParaRPr lang="en-US" sz="2000" dirty="0"/>
          </a:p>
          <a:p>
            <a:pPr marL="800100" lvl="1" indent="-342900"/>
            <a:r>
              <a:rPr lang="en-US" sz="2000" dirty="0"/>
              <a:t>Manual analysis of astronomical dataset difficult:</a:t>
            </a:r>
          </a:p>
          <a:p>
            <a:pPr marL="1028700" lvl="2" indent="-342900"/>
            <a:r>
              <a:rPr lang="en-US" sz="2000" b="1" dirty="0"/>
              <a:t>Large-scale</a:t>
            </a:r>
          </a:p>
          <a:p>
            <a:pPr marL="1028700" lvl="2" indent="-342900"/>
            <a:r>
              <a:rPr lang="en-US" sz="2000" b="1" dirty="0"/>
              <a:t>High-dimensional </a:t>
            </a:r>
            <a:r>
              <a:rPr lang="en-US" sz="2000" b="1" dirty="0">
                <a:sym typeface="Wingdings" panose="05000000000000000000" pitchFamily="2" charset="2"/>
              </a:rPr>
              <a:t> complex</a:t>
            </a:r>
            <a:endParaRPr lang="en-US" sz="2000" b="1" dirty="0"/>
          </a:p>
          <a:p>
            <a:pPr marL="1028700" lvl="2" indent="-342900"/>
            <a:r>
              <a:rPr lang="en-US" sz="2000" b="1" dirty="0"/>
              <a:t>Highly variable </a:t>
            </a:r>
            <a:r>
              <a:rPr lang="en-US" sz="2000" b="1" dirty="0">
                <a:sym typeface="Wingdings" panose="05000000000000000000" pitchFamily="2" charset="2"/>
              </a:rPr>
              <a:t> outliers</a:t>
            </a:r>
            <a:endParaRPr lang="en-US" sz="2000" b="1" dirty="0"/>
          </a:p>
          <a:p>
            <a:pPr marL="1028700" lvl="2" indent="-342900"/>
            <a:r>
              <a:rPr lang="en-US" sz="2000" b="1" dirty="0"/>
              <a:t>Incomplete</a:t>
            </a:r>
          </a:p>
          <a:p>
            <a:pPr marL="1028700" lvl="2" indent="-342900"/>
            <a:r>
              <a:rPr lang="en-US" sz="2000" b="1" dirty="0"/>
              <a:t>Not uniformly distributed</a:t>
            </a:r>
          </a:p>
          <a:p>
            <a:pPr marL="685800" lvl="2" indent="0">
              <a:buNone/>
            </a:pPr>
            <a:endParaRPr lang="en-US" sz="2000" dirty="0"/>
          </a:p>
          <a:p>
            <a:pPr marL="800100" lvl="1" indent="-342900"/>
            <a:r>
              <a:rPr lang="en-US" sz="2000" dirty="0"/>
              <a:t>Outpaced our ability to </a:t>
            </a:r>
            <a:r>
              <a:rPr lang="en-US" sz="2000" b="1" dirty="0"/>
              <a:t>efficiently analyze, categorize, determine Earth-Like similarity, </a:t>
            </a:r>
            <a:r>
              <a:rPr lang="en-US" sz="2000" dirty="0"/>
              <a:t>and </a:t>
            </a:r>
            <a:r>
              <a:rPr lang="en-US" sz="2000" b="1" dirty="0"/>
              <a:t>assess habitability</a:t>
            </a:r>
          </a:p>
          <a:p>
            <a:pPr marL="800100" lvl="1" indent="-342900"/>
            <a:endParaRPr lang="en-US" sz="2000" b="1" dirty="0"/>
          </a:p>
        </p:txBody>
      </p:sp>
      <p:pic>
        <p:nvPicPr>
          <p:cNvPr id="1026" name="Picture 2" descr="Planets Transparent Background | Facts, Information, History &amp; Definition">
            <a:extLst>
              <a:ext uri="{FF2B5EF4-FFF2-40B4-BE49-F238E27FC236}">
                <a16:creationId xmlns:a16="http://schemas.microsoft.com/office/drawing/2014/main" id="{174BBFB5-0979-C067-104B-73139C0AEE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39557" y="640080"/>
            <a:ext cx="2844354" cy="2133265"/>
          </a:xfrm>
          <a:prstGeom prst="rect">
            <a:avLst/>
          </a:prstGeom>
          <a:noFill/>
          <a:effectLst>
            <a:innerShdw blurRad="63500" dist="50800" dir="2700000">
              <a:prstClr val="black">
                <a:alpha val="50000"/>
              </a:prstClr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Planet PNG Images | Free Photos, PNG Stickers, Wallpapers &amp; Backgrounds -  rawpixel">
            <a:extLst>
              <a:ext uri="{FF2B5EF4-FFF2-40B4-BE49-F238E27FC236}">
                <a16:creationId xmlns:a16="http://schemas.microsoft.com/office/drawing/2014/main" id="{4441090E-8C30-D386-2D83-8B3F499893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1692428" y="2773345"/>
            <a:ext cx="2156927" cy="21569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Planet Png PNG Transparent With Clear Background ID 135886 | TOPpng">
            <a:extLst>
              <a:ext uri="{FF2B5EF4-FFF2-40B4-BE49-F238E27FC236}">
                <a16:creationId xmlns:a16="http://schemas.microsoft.com/office/drawing/2014/main" id="{A312EE90-59B2-53AD-4444-D0429EAB86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 rot="13176524">
            <a:off x="613964" y="4363322"/>
            <a:ext cx="2156927" cy="22057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502874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C850CD-9F39-39F2-0BFB-4007C9A096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6939DB6-9781-37AC-FCE9-B05D87DCBD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63010" y="625151"/>
            <a:ext cx="5221223" cy="716778"/>
          </a:xfrm>
        </p:spPr>
        <p:txBody>
          <a:bodyPr/>
          <a:lstStyle/>
          <a:p>
            <a:r>
              <a:rPr lang="en-US" dirty="0"/>
              <a:t>objective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A43AE7B-C56E-F158-C622-CAD5D195770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58414" y="1548881"/>
            <a:ext cx="5430417" cy="5206481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Integrate a </a:t>
            </a:r>
            <a:r>
              <a:rPr lang="en-US" b="1" dirty="0"/>
              <a:t>structured reproducible EDA </a:t>
            </a:r>
            <a:r>
              <a:rPr lang="en-US" dirty="0"/>
              <a:t>with</a:t>
            </a:r>
            <a:r>
              <a:rPr lang="en-US" b="1" dirty="0"/>
              <a:t> Supervised learning </a:t>
            </a:r>
            <a:r>
              <a:rPr lang="en-US" dirty="0"/>
              <a:t>and</a:t>
            </a:r>
            <a:r>
              <a:rPr lang="en-US" b="1" dirty="0"/>
              <a:t> Unsupervised learning models: </a:t>
            </a:r>
            <a:endParaRPr lang="en-US" b="1" dirty="0">
              <a:sym typeface="Wingdings" panose="05000000000000000000" pitchFamily="2" charset="2"/>
            </a:endParaRPr>
          </a:p>
          <a:p>
            <a:pPr marL="514350" lvl="1" indent="-285750"/>
            <a:r>
              <a:rPr lang="en-US" b="1" dirty="0">
                <a:sym typeface="Wingdings" panose="05000000000000000000" pitchFamily="2" charset="2"/>
              </a:rPr>
              <a:t>Predict Earth-Like Similarity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002060"/>
                </a:solidFill>
              </a:rPr>
              <a:t>Exploratory Data Analysis (EDA):</a:t>
            </a:r>
          </a:p>
          <a:p>
            <a:pPr marL="514350" lvl="1" indent="-285750"/>
            <a:r>
              <a:rPr lang="en-US" b="1" dirty="0">
                <a:sym typeface="Wingdings" panose="05000000000000000000" pitchFamily="2" charset="2"/>
              </a:rPr>
              <a:t>Explore relationships </a:t>
            </a:r>
            <a:r>
              <a:rPr lang="en-US" dirty="0">
                <a:sym typeface="Wingdings" panose="05000000000000000000" pitchFamily="2" charset="2"/>
              </a:rPr>
              <a:t>between </a:t>
            </a:r>
            <a:r>
              <a:rPr lang="en-US" b="1" dirty="0">
                <a:sym typeface="Wingdings" panose="05000000000000000000" pitchFamily="2" charset="2"/>
              </a:rPr>
              <a:t>stellar</a:t>
            </a:r>
            <a:r>
              <a:rPr lang="en-US" dirty="0">
                <a:sym typeface="Wingdings" panose="05000000000000000000" pitchFamily="2" charset="2"/>
              </a:rPr>
              <a:t> and </a:t>
            </a:r>
            <a:r>
              <a:rPr lang="en-US" b="1" dirty="0">
                <a:sym typeface="Wingdings" panose="05000000000000000000" pitchFamily="2" charset="2"/>
              </a:rPr>
              <a:t>planetary features</a:t>
            </a:r>
            <a:endParaRPr lang="en-US" dirty="0">
              <a:sym typeface="Wingdings" panose="05000000000000000000" pitchFamily="2" charset="2"/>
            </a:endParaRPr>
          </a:p>
          <a:p>
            <a:pPr marL="514350" lvl="1" indent="-285750"/>
            <a:r>
              <a:rPr lang="en-US" b="1" dirty="0">
                <a:sym typeface="Wingdings" panose="05000000000000000000" pitchFamily="2" charset="2"/>
              </a:rPr>
              <a:t>Categorize exoplanets</a:t>
            </a:r>
            <a:r>
              <a:rPr lang="en-US" dirty="0">
                <a:sym typeface="Wingdings" panose="05000000000000000000" pitchFamily="2" charset="2"/>
              </a:rPr>
              <a:t> based on </a:t>
            </a:r>
            <a:r>
              <a:rPr lang="en-US" b="1" dirty="0">
                <a:sym typeface="Wingdings" panose="05000000000000000000" pitchFamily="2" charset="2"/>
              </a:rPr>
              <a:t>Mass and Radius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002060"/>
                </a:solidFill>
              </a:rPr>
              <a:t>Supervised Learning (1 Model):</a:t>
            </a:r>
            <a:endParaRPr lang="en-US" b="1" dirty="0">
              <a:solidFill>
                <a:srgbClr val="002060"/>
              </a:solidFill>
              <a:sym typeface="Wingdings" panose="05000000000000000000" pitchFamily="2" charset="2"/>
            </a:endParaRPr>
          </a:p>
          <a:p>
            <a:pPr marL="514350" lvl="1" indent="-285750"/>
            <a:r>
              <a:rPr lang="en-US" b="1" dirty="0">
                <a:sym typeface="Wingdings" panose="05000000000000000000" pitchFamily="2" charset="2"/>
              </a:rPr>
              <a:t>Identify top 10 Earth-Like exoplanets </a:t>
            </a:r>
            <a:r>
              <a:rPr lang="en-US" dirty="0">
                <a:sym typeface="Wingdings" panose="05000000000000000000" pitchFamily="2" charset="2"/>
              </a:rPr>
              <a:t>(Predefined target row Earth and Sun)</a:t>
            </a:r>
          </a:p>
          <a:p>
            <a:pPr marL="514350" lvl="1" indent="-285750"/>
            <a:r>
              <a:rPr lang="en-US" dirty="0">
                <a:sym typeface="Wingdings" panose="05000000000000000000" pitchFamily="2" charset="2"/>
              </a:rPr>
              <a:t>Evaluate their </a:t>
            </a:r>
            <a:r>
              <a:rPr lang="en-US" b="1" dirty="0">
                <a:sym typeface="Wingdings" panose="05000000000000000000" pitchFamily="2" charset="2"/>
              </a:rPr>
              <a:t>habitability potential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002060"/>
                </a:solidFill>
                <a:sym typeface="Wingdings" panose="05000000000000000000" pitchFamily="2" charset="2"/>
              </a:rPr>
              <a:t>Unsupervised Learning (3 Models):</a:t>
            </a:r>
          </a:p>
          <a:p>
            <a:pPr marL="514350" lvl="1" indent="-285750"/>
            <a:r>
              <a:rPr lang="en-US" dirty="0">
                <a:sym typeface="Wingdings" panose="05000000000000000000" pitchFamily="2" charset="2"/>
              </a:rPr>
              <a:t>Determine </a:t>
            </a:r>
            <a:r>
              <a:rPr lang="en-US" b="1" dirty="0">
                <a:sym typeface="Wingdings" panose="05000000000000000000" pitchFamily="2" charset="2"/>
              </a:rPr>
              <a:t>natural planetary groupings </a:t>
            </a:r>
            <a:r>
              <a:rPr lang="en-US" dirty="0">
                <a:sym typeface="Wingdings" panose="05000000000000000000" pitchFamily="2" charset="2"/>
              </a:rPr>
              <a:t>(without predefined labels)</a:t>
            </a:r>
          </a:p>
        </p:txBody>
      </p:sp>
      <p:pic>
        <p:nvPicPr>
          <p:cNvPr id="12" name="Picture Placeholder 11">
            <a:extLst>
              <a:ext uri="{FF2B5EF4-FFF2-40B4-BE49-F238E27FC236}">
                <a16:creationId xmlns:a16="http://schemas.microsoft.com/office/drawing/2014/main" id="{62B4ECD8-E89C-1C24-6DD1-D81167B4CF32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rcRect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42256851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15DE3D-66BF-C855-2E6D-F0D136B47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71CA9AA-AA84-4E59-4E2F-D79CE2E7A4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96183" y="3041779"/>
            <a:ext cx="10302240" cy="1391113"/>
          </a:xfrm>
        </p:spPr>
        <p:txBody>
          <a:bodyPr/>
          <a:lstStyle/>
          <a:p>
            <a:pPr algn="ctr"/>
            <a:r>
              <a:rPr lang="en-US" dirty="0"/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33763451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8E24D3-07BE-C483-3F42-95EEE83332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4832" y="183178"/>
            <a:ext cx="5141168" cy="1524324"/>
          </a:xfrm>
        </p:spPr>
        <p:txBody>
          <a:bodyPr/>
          <a:lstStyle/>
          <a:p>
            <a:r>
              <a:rPr lang="en-US" sz="3200" dirty="0">
                <a:solidFill>
                  <a:schemeClr val="tx1"/>
                </a:solidFill>
              </a:rPr>
              <a:t>Background: </a:t>
            </a:r>
            <a:br>
              <a:rPr lang="en-US" sz="3200" dirty="0">
                <a:solidFill>
                  <a:schemeClr val="tx1"/>
                </a:solidFill>
              </a:rPr>
            </a:br>
            <a:r>
              <a:rPr lang="en-US" sz="3200" dirty="0">
                <a:solidFill>
                  <a:schemeClr val="tx1"/>
                </a:solidFill>
              </a:rPr>
              <a:t>Stellar criteria</a:t>
            </a:r>
          </a:p>
        </p:txBody>
      </p:sp>
      <p:sp>
        <p:nvSpPr>
          <p:cNvPr id="63" name="Text Placeholder 62">
            <a:extLst>
              <a:ext uri="{FF2B5EF4-FFF2-40B4-BE49-F238E27FC236}">
                <a16:creationId xmlns:a16="http://schemas.microsoft.com/office/drawing/2014/main" id="{9EFE5C42-059F-482E-C029-E8FA5107EEDA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54832" y="1707502"/>
            <a:ext cx="5268686" cy="5010539"/>
          </a:xfrm>
        </p:spPr>
        <p:txBody>
          <a:bodyPr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Host stars are classified by their </a:t>
            </a:r>
            <a:r>
              <a:rPr lang="en-US" sz="1600" b="1" dirty="0"/>
              <a:t>star types</a:t>
            </a:r>
            <a:r>
              <a:rPr lang="en-US" sz="1600" dirty="0"/>
              <a:t>: </a:t>
            </a: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M (Red Dwarf), K, </a:t>
            </a:r>
            <a:r>
              <a:rPr lang="en-US" sz="1600" b="1" dirty="0"/>
              <a:t>G (Sun-like), </a:t>
            </a:r>
            <a:r>
              <a:rPr lang="en-US" sz="1600" dirty="0"/>
              <a:t>F, A, B, or O</a:t>
            </a: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In order of coldest to hottest</a:t>
            </a: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In order of most lifetime to least lifetime</a:t>
            </a: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In order of smallest to largest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Star types A, B, and O unlikely to host life due to short lifetimes </a:t>
            </a: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Higher energy </a:t>
            </a:r>
            <a:r>
              <a:rPr lang="en-US" sz="1600" dirty="0">
                <a:sym typeface="Wingdings" panose="05000000000000000000" pitchFamily="2" charset="2"/>
              </a:rPr>
              <a:t> faster burn out</a:t>
            </a: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Star types M, K, G, and F are likely to sustain life due to longer lifetimes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Host stars are classified by their </a:t>
            </a:r>
            <a:r>
              <a:rPr lang="en-US" sz="1600" b="1" dirty="0"/>
              <a:t>luminosity class</a:t>
            </a:r>
            <a:r>
              <a:rPr lang="en-US" sz="1600" dirty="0"/>
              <a:t>: </a:t>
            </a: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Main Sequence (V), </a:t>
            </a:r>
            <a:r>
              <a:rPr lang="en-US" sz="1600" dirty="0"/>
              <a:t>Sub-Giants (IV), Giants (III), Bright Giants (II), Super Giants (I), and White Dwarfs (WD) </a:t>
            </a: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More luminous </a:t>
            </a:r>
            <a:r>
              <a:rPr lang="en-US" sz="1600" dirty="0">
                <a:sym typeface="Wingdings" panose="05000000000000000000" pitchFamily="2" charset="2"/>
              </a:rPr>
              <a:t> brighter  more energy emitted  more radiation</a:t>
            </a: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  <p:pic>
        <p:nvPicPr>
          <p:cNvPr id="5" name="Picture 4" descr="G:\KEPLER DATA ANALYSIS-BU\KEPLER\Kepler Pics\Morgan-Keenan_spectral_classification.png">
            <a:extLst>
              <a:ext uri="{FF2B5EF4-FFF2-40B4-BE49-F238E27FC236}">
                <a16:creationId xmlns:a16="http://schemas.microsoft.com/office/drawing/2014/main" id="{C1E6D0D9-9569-FC38-C325-F17F7CC566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420" r="11150"/>
          <a:stretch>
            <a:fillRect/>
          </a:stretch>
        </p:blipFill>
        <p:spPr bwMode="auto">
          <a:xfrm>
            <a:off x="6824051" y="43219"/>
            <a:ext cx="4977706" cy="22686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" name="Picture 10">
            <a:extLst>
              <a:ext uri="{FF2B5EF4-FFF2-40B4-BE49-F238E27FC236}">
                <a16:creationId xmlns:a16="http://schemas.microsoft.com/office/drawing/2014/main" id="{A9B8080E-2510-17E9-64E9-1066041788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32" r="2489" b="8447"/>
          <a:stretch>
            <a:fillRect/>
          </a:stretch>
        </p:blipFill>
        <p:spPr bwMode="auto">
          <a:xfrm>
            <a:off x="7520475" y="2409811"/>
            <a:ext cx="3584858" cy="44049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7196648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D37E4F-FFC4-DD71-C1B8-6C4FBEAD06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5BC88E-681A-694B-9471-78FB558768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0805" y="681135"/>
            <a:ext cx="5222044" cy="1146434"/>
          </a:xfrm>
        </p:spPr>
        <p:txBody>
          <a:bodyPr/>
          <a:lstStyle/>
          <a:p>
            <a:r>
              <a:rPr lang="en-US" sz="3200" dirty="0">
                <a:solidFill>
                  <a:schemeClr val="tx1"/>
                </a:solidFill>
              </a:rPr>
              <a:t>Background: habitability criteria</a:t>
            </a:r>
          </a:p>
        </p:txBody>
      </p:sp>
      <p:sp>
        <p:nvSpPr>
          <p:cNvPr id="63" name="Text Placeholder 62">
            <a:extLst>
              <a:ext uri="{FF2B5EF4-FFF2-40B4-BE49-F238E27FC236}">
                <a16:creationId xmlns:a16="http://schemas.microsoft.com/office/drawing/2014/main" id="{32C20823-5657-65C3-D1CC-972E85874332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1010806" y="1996751"/>
            <a:ext cx="5016770" cy="3965510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Star’s Habitable Zone (HZ):</a:t>
            </a: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en-US" dirty="0"/>
              <a:t>Depends on the star type</a:t>
            </a: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en-US" dirty="0"/>
              <a:t>Describes the optimal distance between the exoplanet and its host star </a:t>
            </a:r>
            <a:r>
              <a:rPr lang="en-US" dirty="0">
                <a:sym typeface="Wingdings" panose="05000000000000000000" pitchFamily="2" charset="2"/>
              </a:rPr>
              <a:t> needed for </a:t>
            </a:r>
            <a:r>
              <a:rPr lang="en-US" dirty="0"/>
              <a:t>liquid water </a:t>
            </a:r>
            <a:r>
              <a:rPr lang="en-US" dirty="0">
                <a:sym typeface="Wingdings" panose="05000000000000000000" pitchFamily="2" charset="2"/>
              </a:rPr>
              <a:t> to allow </a:t>
            </a:r>
            <a:r>
              <a:rPr lang="en-US" dirty="0"/>
              <a:t>habitability</a:t>
            </a:r>
          </a:p>
          <a:p>
            <a:pPr marL="685800" lvl="1" indent="0">
              <a:buNone/>
            </a:pPr>
            <a:r>
              <a:rPr lang="en-US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Galactic Habitable Zone (GHZ): </a:t>
            </a: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en-US" dirty="0"/>
              <a:t>Area within the Milky Way Galaxy with reduced radiation </a:t>
            </a:r>
            <a:r>
              <a:rPr lang="en-US" dirty="0">
                <a:sym typeface="Wingdings" panose="05000000000000000000" pitchFamily="2" charset="2"/>
              </a:rPr>
              <a:t> to allow habitability </a:t>
            </a:r>
            <a:endParaRPr lang="en-US" dirty="0"/>
          </a:p>
        </p:txBody>
      </p:sp>
      <p:pic>
        <p:nvPicPr>
          <p:cNvPr id="3" name="Picture 5" descr="G:\KEPLER DATA ANALYSIS-BU\KEPLER\24-15_anno.jpg">
            <a:extLst>
              <a:ext uri="{FF2B5EF4-FFF2-40B4-BE49-F238E27FC236}">
                <a16:creationId xmlns:a16="http://schemas.microsoft.com/office/drawing/2014/main" id="{E815085D-51B4-F747-407F-CD69B61C5A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221889" y="95005"/>
            <a:ext cx="4195665" cy="23112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Picture 2" descr="C:\Users\student\Desktop\Habitable.png">
            <a:extLst>
              <a:ext uri="{FF2B5EF4-FFF2-40B4-BE49-F238E27FC236}">
                <a16:creationId xmlns:a16="http://schemas.microsoft.com/office/drawing/2014/main" id="{186D7AC9-AF0B-652A-E224-62CFC683E1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221889" y="2501220"/>
            <a:ext cx="4195665" cy="14593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Picture 4" descr="undefined">
            <a:extLst>
              <a:ext uri="{FF2B5EF4-FFF2-40B4-BE49-F238E27FC236}">
                <a16:creationId xmlns:a16="http://schemas.microsoft.com/office/drawing/2014/main" id="{332E75AF-FD16-945A-9F8B-3818D9A950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924737" y="4055537"/>
            <a:ext cx="2789967" cy="270745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7622982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248863-9860-79B5-3322-58AA7CC7FC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9572105-1EDC-F3F0-5ACD-B4F43738E3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96183" y="3041779"/>
            <a:ext cx="10302240" cy="1391113"/>
          </a:xfrm>
        </p:spPr>
        <p:txBody>
          <a:bodyPr/>
          <a:lstStyle/>
          <a:p>
            <a:pPr algn="ctr"/>
            <a:r>
              <a:rPr lang="en-US" dirty="0"/>
              <a:t>methodology</a:t>
            </a:r>
          </a:p>
        </p:txBody>
      </p:sp>
    </p:spTree>
    <p:extLst>
      <p:ext uri="{BB962C8B-B14F-4D97-AF65-F5344CB8AC3E}">
        <p14:creationId xmlns:p14="http://schemas.microsoft.com/office/powerpoint/2010/main" val="5039264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7C4AF3-683B-ABE1-206E-0242598EBB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001701-F965-9DCF-AA46-9BFBD825C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86809" y="640080"/>
            <a:ext cx="7498080" cy="1280160"/>
          </a:xfrm>
        </p:spPr>
        <p:txBody>
          <a:bodyPr/>
          <a:lstStyle/>
          <a:p>
            <a:r>
              <a:rPr lang="en-US" dirty="0"/>
              <a:t>Methodology: Initial Data Cleaning</a:t>
            </a:r>
          </a:p>
        </p:txBody>
      </p:sp>
      <p:pic>
        <p:nvPicPr>
          <p:cNvPr id="9" name="Picture Placeholder 8" descr="Computer script on a screen">
            <a:extLst>
              <a:ext uri="{FF2B5EF4-FFF2-40B4-BE49-F238E27FC236}">
                <a16:creationId xmlns:a16="http://schemas.microsoft.com/office/drawing/2014/main" id="{25F60E04-7D0F-62CB-3356-D1A70AA19335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14400" y="836394"/>
            <a:ext cx="2833131" cy="2833135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08761B5-0AC2-ABCA-4E71-B1C85B0DA2D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52487"/>
          <a:stretch>
            <a:fillRect/>
          </a:stretch>
        </p:blipFill>
        <p:spPr>
          <a:xfrm>
            <a:off x="4021494" y="2043404"/>
            <a:ext cx="8666611" cy="3929697"/>
          </a:xfrm>
          <a:prstGeom prst="rect">
            <a:avLst/>
          </a:prstGeom>
        </p:spPr>
      </p:pic>
      <p:sp>
        <p:nvSpPr>
          <p:cNvPr id="11" name="Arc 10">
            <a:extLst>
              <a:ext uri="{FF2B5EF4-FFF2-40B4-BE49-F238E27FC236}">
                <a16:creationId xmlns:a16="http://schemas.microsoft.com/office/drawing/2014/main" id="{0EB1C625-3E4A-5CDC-853E-65387AC1C86F}"/>
              </a:ext>
            </a:extLst>
          </p:cNvPr>
          <p:cNvSpPr/>
          <p:nvPr/>
        </p:nvSpPr>
        <p:spPr>
          <a:xfrm rot="9429591">
            <a:off x="944239" y="1275671"/>
            <a:ext cx="2773451" cy="2525156"/>
          </a:xfrm>
          <a:prstGeom prst="arc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9802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ABAC7B-2806-8138-BB1B-FA0E61E3FD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47736" y="59572"/>
            <a:ext cx="8359342" cy="1287624"/>
          </a:xfrm>
        </p:spPr>
        <p:txBody>
          <a:bodyPr/>
          <a:lstStyle/>
          <a:p>
            <a:r>
              <a:rPr lang="en-US" dirty="0"/>
              <a:t>Methodology: Outliers &amp; duplicate rows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837870C-B806-B6DA-F3A6-C820AF4584F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47619"/>
          <a:stretch>
            <a:fillRect/>
          </a:stretch>
        </p:blipFill>
        <p:spPr>
          <a:xfrm>
            <a:off x="3947736" y="1347196"/>
            <a:ext cx="7977363" cy="3987762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E505E89-AEED-3820-3B59-1C42F456C83D}"/>
              </a:ext>
            </a:extLst>
          </p:cNvPr>
          <p:cNvCxnSpPr>
            <a:cxnSpLocks/>
          </p:cNvCxnSpPr>
          <p:nvPr/>
        </p:nvCxnSpPr>
        <p:spPr>
          <a:xfrm>
            <a:off x="737119" y="-22251"/>
            <a:ext cx="0" cy="685800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B9CF8852-0E93-B023-5A97-6544AD198CE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-3129" y="-22252"/>
            <a:ext cx="3828678" cy="695100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734BDBD-6EEE-C961-3431-0592A719B8F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3947736" y="5298528"/>
            <a:ext cx="4090068" cy="149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89643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70288-6287-B43B-ED37-CBCB6D4798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93153-BA3C-D544-80DD-84BABDF852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46849" y="395090"/>
            <a:ext cx="8245151" cy="1237767"/>
          </a:xfrm>
        </p:spPr>
        <p:txBody>
          <a:bodyPr/>
          <a:lstStyle/>
          <a:p>
            <a:r>
              <a:rPr lang="en-US" sz="3200" dirty="0"/>
              <a:t>Methodology: Final Data Cleaning &amp; dataset description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7932D2B-DCDE-0764-1642-0339E5E87FD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4142792" y="1735493"/>
            <a:ext cx="6985868" cy="4198776"/>
          </a:xfrm>
          <a:prstGeom prst="rect">
            <a:avLst/>
          </a:prstGeom>
        </p:spPr>
      </p:pic>
      <p:pic>
        <p:nvPicPr>
          <p:cNvPr id="1026" name="Picture 2" descr="Under the Wing of a Dwarf Galaxy (NASA, Chandra, 04/03/13)… | Flickr">
            <a:extLst>
              <a:ext uri="{FF2B5EF4-FFF2-40B4-BE49-F238E27FC236}">
                <a16:creationId xmlns:a16="http://schemas.microsoft.com/office/drawing/2014/main" id="{727A066A-BC04-4657-C58D-720C7908125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-27658" y="0"/>
            <a:ext cx="376729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0DDF9F15-03BD-7340-AE92-EF6F1BC888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338563"/>
              </p:ext>
            </p:extLst>
          </p:nvPr>
        </p:nvGraphicFramePr>
        <p:xfrm>
          <a:off x="293111" y="410547"/>
          <a:ext cx="3125755" cy="6168355"/>
        </p:xfrm>
        <a:graphic>
          <a:graphicData uri="http://schemas.openxmlformats.org/drawingml/2006/table">
            <a:tbl>
              <a:tblPr firstRow="1" firstCol="1" bandRow="1">
                <a:tableStyleId>{775DCB02-9BB8-47FD-8907-85C794F793BA}</a:tableStyleId>
              </a:tblPr>
              <a:tblGrid>
                <a:gridCol w="3125755">
                  <a:extLst>
                    <a:ext uri="{9D8B030D-6E8A-4147-A177-3AD203B41FA5}">
                      <a16:colId xmlns:a16="http://schemas.microsoft.com/office/drawing/2014/main" val="2656973296"/>
                    </a:ext>
                  </a:extLst>
                </a:gridCol>
              </a:tblGrid>
              <a:tr h="301324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buNone/>
                      </a:pPr>
                      <a:r>
                        <a:rPr lang="en-US" sz="1800" kern="100" dirty="0">
                          <a:effectLst/>
                        </a:rPr>
                        <a:t>Variable Name</a:t>
                      </a:r>
                      <a:endParaRPr lang="en-US" sz="2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4746" marR="54746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0484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2535073"/>
                  </a:ext>
                </a:extLst>
              </a:tr>
              <a:tr h="439103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1400" kern="100" dirty="0">
                          <a:solidFill>
                            <a:schemeClr val="tx1"/>
                          </a:solidFill>
                          <a:effectLst/>
                        </a:rPr>
                        <a:t>Planet Name           </a:t>
                      </a:r>
                      <a:endParaRPr lang="en-US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4746" marR="54746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24662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8480065"/>
                  </a:ext>
                </a:extLst>
              </a:tr>
              <a:tr h="432225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1400" kern="100" dirty="0">
                          <a:solidFill>
                            <a:schemeClr val="tx1"/>
                          </a:solidFill>
                          <a:effectLst/>
                        </a:rPr>
                        <a:t>Star Number Per System   </a:t>
                      </a:r>
                      <a:endParaRPr lang="en-US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4746" marR="54746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33195167"/>
                  </a:ext>
                </a:extLst>
              </a:tr>
              <a:tr h="42019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1400" kern="100" dirty="0">
                          <a:solidFill>
                            <a:schemeClr val="tx1"/>
                          </a:solidFill>
                          <a:effectLst/>
                        </a:rPr>
                        <a:t>Orbital Period      </a:t>
                      </a:r>
                      <a:endParaRPr lang="en-US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4746" marR="54746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24662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2859595"/>
                  </a:ext>
                </a:extLst>
              </a:tr>
              <a:tr h="40202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1400" kern="100" dirty="0">
                          <a:solidFill>
                            <a:schemeClr val="tx1"/>
                          </a:solidFill>
                          <a:effectLst/>
                        </a:rPr>
                        <a:t>Orbital Semi Major Axis </a:t>
                      </a:r>
                      <a:endParaRPr lang="en-US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4746" marR="54746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68640518"/>
                  </a:ext>
                </a:extLst>
              </a:tr>
              <a:tr h="365502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1400" kern="100" dirty="0">
                          <a:solidFill>
                            <a:schemeClr val="tx1"/>
                          </a:solidFill>
                          <a:effectLst/>
                        </a:rPr>
                        <a:t>Planet Radius </a:t>
                      </a:r>
                      <a:endParaRPr lang="en-US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4746" marR="54746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24662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5584047"/>
                  </a:ext>
                </a:extLst>
              </a:tr>
              <a:tr h="438774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1400" kern="100" dirty="0">
                          <a:solidFill>
                            <a:schemeClr val="tx1"/>
                          </a:solidFill>
                          <a:effectLst/>
                        </a:rPr>
                        <a:t>Planet Mass</a:t>
                      </a:r>
                      <a:endParaRPr lang="en-US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4746" marR="54746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09864568"/>
                  </a:ext>
                </a:extLst>
              </a:tr>
              <a:tr h="365502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1400" kern="100" dirty="0">
                          <a:solidFill>
                            <a:schemeClr val="tx1"/>
                          </a:solidFill>
                          <a:effectLst/>
                        </a:rPr>
                        <a:t>Planet Equilibrium Temperature   </a:t>
                      </a:r>
                      <a:endParaRPr lang="en-US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4746" marR="54746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24662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1852953"/>
                  </a:ext>
                </a:extLst>
              </a:tr>
              <a:tr h="386951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1400" kern="100" dirty="0">
                          <a:solidFill>
                            <a:schemeClr val="tx1"/>
                          </a:solidFill>
                          <a:effectLst/>
                        </a:rPr>
                        <a:t>Spectral Type          </a:t>
                      </a:r>
                      <a:endParaRPr lang="en-US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4746" marR="54746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71286544"/>
                  </a:ext>
                </a:extLst>
              </a:tr>
              <a:tr h="365502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1400" kern="100" dirty="0">
                          <a:solidFill>
                            <a:schemeClr val="tx1"/>
                          </a:solidFill>
                          <a:effectLst/>
                        </a:rPr>
                        <a:t>Stellar Effective Temperature </a:t>
                      </a:r>
                      <a:endParaRPr lang="en-US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4746" marR="54746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24662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1550330"/>
                  </a:ext>
                </a:extLst>
              </a:tr>
              <a:tr h="395795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1400" kern="100" dirty="0">
                          <a:solidFill>
                            <a:schemeClr val="tx1"/>
                          </a:solidFill>
                          <a:effectLst/>
                        </a:rPr>
                        <a:t>Stellar Radius </a:t>
                      </a:r>
                      <a:endParaRPr lang="en-US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4746" marR="54746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18361478"/>
                  </a:ext>
                </a:extLst>
              </a:tr>
              <a:tr h="349144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1400" kern="100" dirty="0">
                          <a:solidFill>
                            <a:schemeClr val="tx1"/>
                          </a:solidFill>
                          <a:effectLst/>
                        </a:rPr>
                        <a:t>Stellar Mass</a:t>
                      </a:r>
                      <a:endParaRPr lang="en-US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4746" marR="54746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24662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833856"/>
                  </a:ext>
                </a:extLst>
              </a:tr>
              <a:tr h="40885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1400" kern="100" dirty="0">
                          <a:solidFill>
                            <a:schemeClr val="tx1"/>
                          </a:solidFill>
                          <a:effectLst/>
                        </a:rPr>
                        <a:t>Stellar Surface Gravity </a:t>
                      </a:r>
                      <a:endParaRPr lang="en-US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4746" marR="54746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52362231"/>
                  </a:ext>
                </a:extLst>
              </a:tr>
              <a:tr h="365502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1400" kern="100" dirty="0">
                          <a:solidFill>
                            <a:schemeClr val="tx1"/>
                          </a:solidFill>
                          <a:effectLst/>
                        </a:rPr>
                        <a:t>Stellar Luminosity </a:t>
                      </a:r>
                      <a:endParaRPr lang="en-US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4746" marR="54746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24662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8051341"/>
                  </a:ext>
                </a:extLst>
              </a:tr>
              <a:tr h="365502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1400" kern="100" dirty="0">
                          <a:solidFill>
                            <a:schemeClr val="tx1"/>
                          </a:solidFill>
                          <a:effectLst/>
                        </a:rPr>
                        <a:t>Planetary Orbital Velocity</a:t>
                      </a:r>
                      <a:endParaRPr lang="en-US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4746" marR="54746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3641687"/>
                  </a:ext>
                </a:extLst>
              </a:tr>
              <a:tr h="366457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1400" kern="100" dirty="0">
                          <a:solidFill>
                            <a:schemeClr val="tx1"/>
                          </a:solidFill>
                          <a:effectLst/>
                        </a:rPr>
                        <a:t>Habitable Zone</a:t>
                      </a:r>
                      <a:endParaRPr lang="en-US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4746" marR="54746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24662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77764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0193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3AEB84-2DC2-6D41-96DA-3AE641B3FE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3A5933-A4E3-7680-8344-55EF67B549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799" y="229533"/>
            <a:ext cx="7940349" cy="899471"/>
          </a:xfrm>
        </p:spPr>
        <p:txBody>
          <a:bodyPr/>
          <a:lstStyle/>
          <a:p>
            <a:r>
              <a:rPr lang="en-US" dirty="0"/>
              <a:t>Methodology: K Nearest Neighbor (KNN) Model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448DF61-55E8-29EA-A015-8B17BCA5D7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14799" y="1268963"/>
            <a:ext cx="7940351" cy="5458408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Supervised Learning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b="1" dirty="0"/>
              <a:t>Predefined target row corresponding </a:t>
            </a:r>
            <a:r>
              <a:rPr lang="en-US" dirty="0"/>
              <a:t>to </a:t>
            </a:r>
            <a:r>
              <a:rPr lang="en-US" b="1" dirty="0"/>
              <a:t>synthetic “Earth” reference point </a:t>
            </a:r>
            <a:r>
              <a:rPr lang="en-US" dirty="0"/>
              <a:t>in feature space.</a:t>
            </a:r>
          </a:p>
          <a:p>
            <a:pPr marL="514350" lvl="1" indent="-285750"/>
            <a:r>
              <a:rPr lang="en-US" dirty="0"/>
              <a:t>Used to </a:t>
            </a:r>
            <a:r>
              <a:rPr lang="en-US" b="1" dirty="0"/>
              <a:t>compare all planetary and stellar features </a:t>
            </a:r>
            <a:r>
              <a:rPr lang="en-US" dirty="0"/>
              <a:t>of all exoplanets </a:t>
            </a:r>
            <a:r>
              <a:rPr lang="en-US" b="1" dirty="0"/>
              <a:t>to Earth and the Sun</a:t>
            </a:r>
            <a:r>
              <a:rPr lang="en-US" dirty="0"/>
              <a:t> respectively.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Automatically </a:t>
            </a:r>
            <a:r>
              <a:rPr lang="en-US" b="1" dirty="0"/>
              <a:t>produce a list of the top 10 Earth-Like exoplanets </a:t>
            </a:r>
            <a:r>
              <a:rPr lang="en-US" dirty="0"/>
              <a:t>and insight into their </a:t>
            </a:r>
            <a:r>
              <a:rPr lang="en-US" b="1" dirty="0"/>
              <a:t>habitability potential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Similarity measured via distance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smaller distance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/>
              <a:t>closer to Earth in feature space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more Earth-Like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Data preprocessing:</a:t>
            </a:r>
          </a:p>
          <a:p>
            <a:pPr marL="514350" lvl="1" indent="-285750"/>
            <a:r>
              <a:rPr lang="en-US" dirty="0"/>
              <a:t>One-hot encoding for categorical features </a:t>
            </a:r>
          </a:p>
          <a:p>
            <a:pPr marL="514350" lvl="1" indent="-285750"/>
            <a:r>
              <a:rPr lang="en-US" dirty="0"/>
              <a:t>Feature normalization and scaling</a:t>
            </a:r>
          </a:p>
          <a:p>
            <a:pPr marL="514350" lvl="1" indent="-285750"/>
            <a:r>
              <a:rPr lang="en-US" b="1" dirty="0"/>
              <a:t>Heavier weights </a:t>
            </a:r>
            <a:r>
              <a:rPr lang="en-US" dirty="0"/>
              <a:t>applied to </a:t>
            </a:r>
            <a:r>
              <a:rPr lang="en-US" b="1" dirty="0"/>
              <a:t>features important for determining Earth-Like similarity </a:t>
            </a:r>
            <a:r>
              <a:rPr lang="en-US" dirty="0"/>
              <a:t>and</a:t>
            </a:r>
            <a:r>
              <a:rPr lang="en-US" b="1" dirty="0"/>
              <a:t> habitability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Two KNN models using two distance metrics for robustness:</a:t>
            </a:r>
          </a:p>
          <a:p>
            <a:pPr marL="514350" lvl="1" indent="-285750"/>
            <a:r>
              <a:rPr lang="en-US" b="1" dirty="0"/>
              <a:t>KNN Model #1 - Manhattan distance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considers similarity for all features combined</a:t>
            </a:r>
          </a:p>
          <a:p>
            <a:pPr marL="514350" lvl="1" indent="-285750"/>
            <a:r>
              <a:rPr lang="en-US" b="1" dirty="0"/>
              <a:t>KNN Model #2 - Euclidean distance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sensitive to deviations between a feature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E18F3FEF-525B-225C-1862-2CDD47CF7A13}"/>
              </a:ext>
            </a:extLst>
          </p:cNvPr>
          <p:cNvCxnSpPr>
            <a:cxnSpLocks/>
          </p:cNvCxnSpPr>
          <p:nvPr/>
        </p:nvCxnSpPr>
        <p:spPr>
          <a:xfrm>
            <a:off x="737118" y="0"/>
            <a:ext cx="0" cy="6727371"/>
          </a:xfrm>
          <a:prstGeom prst="line">
            <a:avLst/>
          </a:prstGeom>
          <a:ln w="285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0" name="Picture 2" descr="Understanding K-Nearest Neighbor (KNN): A Quick Overview | by Algorithm  Alchemist | Medium">
            <a:extLst>
              <a:ext uri="{FF2B5EF4-FFF2-40B4-BE49-F238E27FC236}">
                <a16:creationId xmlns:a16="http://schemas.microsoft.com/office/drawing/2014/main" id="{DA278C63-C8E8-172A-7FDE-6629CC117A7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51927" y="1875453"/>
            <a:ext cx="3629608" cy="3582954"/>
          </a:xfrm>
          <a:prstGeom prst="rect">
            <a:avLst/>
          </a:prstGeom>
          <a:noFill/>
          <a:ln w="28575">
            <a:solidFill>
              <a:schemeClr val="accent1">
                <a:lumMod val="7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974732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28C49C-842A-CBE4-261A-CD2EB3A0AA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6DC0E9-9443-8F2C-02E8-239637C4EF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7037" y="358295"/>
            <a:ext cx="10595843" cy="1280160"/>
          </a:xfrm>
        </p:spPr>
        <p:txBody>
          <a:bodyPr/>
          <a:lstStyle/>
          <a:p>
            <a:r>
              <a:rPr lang="en-US" dirty="0"/>
              <a:t>Methodology: K Means Clustering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AA94E0-F28F-8A90-7B8C-90D1CD06F8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3061" y="1756020"/>
            <a:ext cx="10595843" cy="4924697"/>
          </a:xfrm>
        </p:spPr>
        <p:txBody>
          <a:bodyPr/>
          <a:lstStyle/>
          <a:p>
            <a:pPr marL="285743" indent="-285743">
              <a:buFont typeface="Arial" panose="020B0604020202020204" pitchFamily="34" charset="0"/>
              <a:buChar char="•"/>
              <a:defRPr/>
            </a:pPr>
            <a:r>
              <a:rPr lang="en-US" sz="1700" b="1" dirty="0"/>
              <a:t>Unsupervised learning </a:t>
            </a:r>
            <a:r>
              <a:rPr lang="en-US" sz="1700" dirty="0">
                <a:sym typeface="Wingdings" panose="05000000000000000000" pitchFamily="2" charset="2"/>
              </a:rPr>
              <a:t> </a:t>
            </a:r>
            <a:r>
              <a:rPr lang="en-US" sz="1700" b="1" dirty="0"/>
              <a:t>Identify natural groupings of exoplanets into their planetary systems </a:t>
            </a:r>
            <a:r>
              <a:rPr lang="en-US" sz="1700" dirty="0"/>
              <a:t>without predefined labels.</a:t>
            </a:r>
          </a:p>
          <a:p>
            <a:pPr marL="285743" indent="-285743">
              <a:buFont typeface="Arial" panose="020B0604020202020204" pitchFamily="34" charset="0"/>
              <a:buChar char="•"/>
              <a:defRPr/>
            </a:pPr>
            <a:r>
              <a:rPr lang="en-US" sz="1700" dirty="0"/>
              <a:t>Model </a:t>
            </a:r>
            <a:r>
              <a:rPr lang="en-US" sz="1700" b="1" dirty="0"/>
              <a:t>applied to the top 10 Earth-like planets </a:t>
            </a:r>
            <a:r>
              <a:rPr lang="en-US" sz="1700" dirty="0"/>
              <a:t>(from KNN Models #1 and #2) to </a:t>
            </a:r>
            <a:r>
              <a:rPr lang="en-US" sz="1700" b="1" dirty="0"/>
              <a:t>determine their cluster membership </a:t>
            </a:r>
            <a:r>
              <a:rPr lang="en-US" sz="1700" dirty="0"/>
              <a:t>(planetary system)</a:t>
            </a:r>
          </a:p>
          <a:p>
            <a:pPr marL="285743" indent="-285743">
              <a:buFont typeface="Arial" panose="020B0604020202020204" pitchFamily="34" charset="0"/>
              <a:buChar char="•"/>
              <a:defRPr/>
            </a:pPr>
            <a:r>
              <a:rPr lang="en-US" sz="1700" dirty="0"/>
              <a:t>Partitions data into k clusters by minimizing within-cluster variance (focus on feature similarity)</a:t>
            </a:r>
          </a:p>
          <a:p>
            <a:pPr marL="514343" lvl="1" indent="-285743">
              <a:defRPr/>
            </a:pPr>
            <a:r>
              <a:rPr lang="en-US" sz="1700" dirty="0"/>
              <a:t>Number of clusters: k = 4 clusters</a:t>
            </a:r>
          </a:p>
          <a:p>
            <a:pPr marL="514343" lvl="1" indent="-285743">
              <a:defRPr/>
            </a:pPr>
            <a:r>
              <a:rPr lang="en-US" sz="1700" b="1" dirty="0"/>
              <a:t>Assumes clusters have spherical shape and all have same size</a:t>
            </a:r>
          </a:p>
          <a:p>
            <a:pPr marL="285743" indent="-285743">
              <a:buFont typeface="Arial" panose="020B0604020202020204" pitchFamily="34" charset="0"/>
              <a:buChar char="•"/>
              <a:defRPr/>
            </a:pPr>
            <a:r>
              <a:rPr lang="en-US" sz="1700" dirty="0"/>
              <a:t>Reveals underlying structure in exoplanet populations</a:t>
            </a:r>
          </a:p>
          <a:p>
            <a:pPr marL="285743" indent="-285743">
              <a:buFont typeface="Arial" panose="020B0604020202020204" pitchFamily="34" charset="0"/>
              <a:buChar char="•"/>
              <a:defRPr/>
            </a:pPr>
            <a:r>
              <a:rPr lang="en-US" sz="1700" dirty="0"/>
              <a:t>Data preprocessing:</a:t>
            </a:r>
          </a:p>
          <a:p>
            <a:pPr marL="654034" lvl="1" indent="-285743">
              <a:defRPr/>
            </a:pPr>
            <a:r>
              <a:rPr lang="en-US" sz="1700" dirty="0"/>
              <a:t>One-hot encoding for categorical features </a:t>
            </a:r>
          </a:p>
          <a:p>
            <a:pPr marL="654034" lvl="1" indent="-285743">
              <a:defRPr/>
            </a:pPr>
            <a:r>
              <a:rPr lang="en-US" sz="1700" dirty="0"/>
              <a:t>Feature normalization and scaling</a:t>
            </a:r>
          </a:p>
          <a:p>
            <a:pPr marL="654034" lvl="1" indent="-285743">
              <a:defRPr/>
            </a:pPr>
            <a:r>
              <a:rPr lang="en-US" sz="1700" dirty="0"/>
              <a:t>Removed outlier planets </a:t>
            </a:r>
          </a:p>
          <a:p>
            <a:pPr marL="368291" lvl="1" indent="0">
              <a:buNone/>
              <a:defRPr/>
            </a:pPr>
            <a:r>
              <a:rPr lang="en-US" sz="1700" dirty="0"/>
              <a:t>     (planets with extreme anomalous values)</a:t>
            </a:r>
          </a:p>
        </p:txBody>
      </p:sp>
      <p:pic>
        <p:nvPicPr>
          <p:cNvPr id="4100" name="Picture 4" descr="K-Means Clustering With RStudio. Grouping the number of teachers… | by  DWIRANY PUSPITASARI JENNIFER - | Medium">
            <a:extLst>
              <a:ext uri="{FF2B5EF4-FFF2-40B4-BE49-F238E27FC236}">
                <a16:creationId xmlns:a16="http://schemas.microsoft.com/office/drawing/2014/main" id="{80166F63-020B-CAE1-0FAB-DA91454EB6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223518" y="4387355"/>
            <a:ext cx="5786224" cy="24109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312D756-C153-06F6-5320-8309F93BBBEA}"/>
              </a:ext>
            </a:extLst>
          </p:cNvPr>
          <p:cNvCxnSpPr>
            <a:cxnSpLocks/>
          </p:cNvCxnSpPr>
          <p:nvPr/>
        </p:nvCxnSpPr>
        <p:spPr>
          <a:xfrm>
            <a:off x="737118" y="0"/>
            <a:ext cx="0" cy="6727371"/>
          </a:xfrm>
          <a:prstGeom prst="line">
            <a:avLst/>
          </a:prstGeom>
          <a:ln w="285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019943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E139BD-B1A8-C8CD-02C2-FC021F5BC6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 descr="Gaussian Mixture Model Algorithm. Introduction Identifying patterns and… |  by Hitanshl Isme | Medium">
            <a:extLst>
              <a:ext uri="{FF2B5EF4-FFF2-40B4-BE49-F238E27FC236}">
                <a16:creationId xmlns:a16="http://schemas.microsoft.com/office/drawing/2014/main" id="{1B758597-F554-A775-CD11-D18F349CFF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394333" y="2053950"/>
            <a:ext cx="3670791" cy="19675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Gaussian Mixture Model (GMM): A Clustering Method | by S. Moazeni, PhD |  Medium">
            <a:extLst>
              <a:ext uri="{FF2B5EF4-FFF2-40B4-BE49-F238E27FC236}">
                <a16:creationId xmlns:a16="http://schemas.microsoft.com/office/drawing/2014/main" id="{CC78E124-1131-2FD9-B534-7228DDE0317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711311" y="4153209"/>
            <a:ext cx="3036834" cy="25741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BDB9E7C1-F707-F117-48F4-93CB8D70CDD5}"/>
              </a:ext>
            </a:extLst>
          </p:cNvPr>
          <p:cNvSpPr/>
          <p:nvPr/>
        </p:nvSpPr>
        <p:spPr>
          <a:xfrm>
            <a:off x="2883159" y="606490"/>
            <a:ext cx="699796" cy="55807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ABBFF75-600D-6157-7FAE-1F00EA9894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9713" y="18113"/>
            <a:ext cx="11131421" cy="1146448"/>
          </a:xfrm>
        </p:spPr>
        <p:txBody>
          <a:bodyPr/>
          <a:lstStyle/>
          <a:p>
            <a:r>
              <a:rPr lang="en-US" sz="3200" dirty="0"/>
              <a:t>Methodology: Gaussian Mixture Model (GMM)</a:t>
            </a:r>
            <a:br>
              <a:rPr lang="en-US" dirty="0"/>
            </a:b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3811197-21BC-D6EE-9A20-7D3636CDA1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9713" y="672353"/>
            <a:ext cx="7582680" cy="6167534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50" b="1" dirty="0"/>
              <a:t>Unsupervised learning </a:t>
            </a:r>
            <a:r>
              <a:rPr lang="en-US" sz="1650" dirty="0">
                <a:sym typeface="Wingdings" panose="05000000000000000000" pitchFamily="2" charset="2"/>
              </a:rPr>
              <a:t> </a:t>
            </a:r>
            <a:r>
              <a:rPr lang="en-US" sz="1650" b="1" dirty="0"/>
              <a:t>Identify natural groupings of exoplanets into their planetary systems </a:t>
            </a:r>
            <a:r>
              <a:rPr lang="en-US" sz="1650" dirty="0"/>
              <a:t>without predefined labels.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50" dirty="0"/>
              <a:t>Model </a:t>
            </a:r>
            <a:r>
              <a:rPr lang="en-US" sz="1650" b="1" dirty="0"/>
              <a:t>applied to the top 10 Earth-like planets </a:t>
            </a:r>
            <a:r>
              <a:rPr lang="en-US" sz="1650" dirty="0"/>
              <a:t>(from KNN Models #1 and #2) to </a:t>
            </a:r>
            <a:r>
              <a:rPr lang="en-US" sz="1650" b="1" dirty="0"/>
              <a:t>determine their cluster membership </a:t>
            </a:r>
            <a:r>
              <a:rPr lang="en-US" sz="1650" dirty="0"/>
              <a:t>(planetary system)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50" dirty="0"/>
              <a:t>Applied GMM clustering to capture </a:t>
            </a:r>
            <a:r>
              <a:rPr lang="en-US" sz="1650" b="1" dirty="0"/>
              <a:t>more flexible, overlapping, and complex exoplanet groupings.</a:t>
            </a:r>
          </a:p>
          <a:p>
            <a:pPr marL="514350" lvl="1" indent="-285750"/>
            <a:r>
              <a:rPr lang="en-US" sz="1650" b="1" dirty="0"/>
              <a:t>Does not assume spherical shape nor same sized clustered</a:t>
            </a:r>
          </a:p>
          <a:p>
            <a:pPr marL="514350" lvl="1" indent="-285750"/>
            <a:r>
              <a:rPr lang="en-US" sz="1650" dirty="0"/>
              <a:t>Allows for elliptical shaped clusters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50" dirty="0"/>
              <a:t>Partitions data into k number of distinct Gaussian distributions</a:t>
            </a:r>
          </a:p>
          <a:p>
            <a:pPr marL="514350" lvl="1" indent="-285750"/>
            <a:r>
              <a:rPr lang="en-US" sz="1650" dirty="0"/>
              <a:t>Number of clusters: k = 4 clusters</a:t>
            </a:r>
          </a:p>
          <a:p>
            <a:pPr marL="514350" lvl="1" indent="-285750"/>
            <a:r>
              <a:rPr lang="en-US" sz="1650" dirty="0"/>
              <a:t>GMM models probabilistic clusters (planetary systems)</a:t>
            </a:r>
          </a:p>
          <a:p>
            <a:pPr marL="514350" lvl="1" indent="-285750"/>
            <a:r>
              <a:rPr lang="en-US" sz="1650" dirty="0"/>
              <a:t>Specific datapoint (exoplanet) has different probabilities of belonging to different planet</a:t>
            </a:r>
          </a:p>
          <a:p>
            <a:pPr marL="514350" lvl="1" indent="-285750"/>
            <a:r>
              <a:rPr lang="en-US" sz="1650" dirty="0"/>
              <a:t>The cluster with the highest probably is the assigned cluster of data datapoint (exoplanet)</a:t>
            </a:r>
          </a:p>
          <a:p>
            <a:pPr marL="514350" lvl="1" indent="-285750"/>
            <a:r>
              <a:rPr lang="en-US" sz="1650" b="1" dirty="0"/>
              <a:t>Assumes data is normally distributed </a:t>
            </a:r>
            <a:endParaRPr lang="en-US" sz="1650" dirty="0"/>
          </a:p>
          <a:p>
            <a:pPr marL="285743" indent="-285743">
              <a:buFont typeface="Arial" panose="020B0604020202020204" pitchFamily="34" charset="0"/>
              <a:buChar char="•"/>
              <a:defRPr/>
            </a:pPr>
            <a:r>
              <a:rPr lang="en-US" sz="1650" dirty="0"/>
              <a:t>Data preprocessing:</a:t>
            </a:r>
          </a:p>
          <a:p>
            <a:pPr marL="654034" lvl="1" indent="-285743">
              <a:defRPr/>
            </a:pPr>
            <a:r>
              <a:rPr lang="en-US" sz="1650" dirty="0"/>
              <a:t>One-hot encoding for categorical features </a:t>
            </a:r>
          </a:p>
          <a:p>
            <a:pPr marL="654034" lvl="1" indent="-285743">
              <a:defRPr/>
            </a:pPr>
            <a:r>
              <a:rPr lang="en-US" sz="1650" dirty="0"/>
              <a:t>Feature normalization and scaling</a:t>
            </a:r>
          </a:p>
          <a:p>
            <a:pPr marL="654034" lvl="1" indent="-285743">
              <a:defRPr/>
            </a:pPr>
            <a:r>
              <a:rPr lang="en-US" sz="1650" dirty="0"/>
              <a:t>Removed outlier planets (planets with extreme anomalous values)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68B8610-2319-D933-C9B4-01E53A11E9DD}"/>
              </a:ext>
            </a:extLst>
          </p:cNvPr>
          <p:cNvCxnSpPr>
            <a:cxnSpLocks/>
          </p:cNvCxnSpPr>
          <p:nvPr/>
        </p:nvCxnSpPr>
        <p:spPr>
          <a:xfrm>
            <a:off x="737118" y="0"/>
            <a:ext cx="0" cy="6727371"/>
          </a:xfrm>
          <a:prstGeom prst="line">
            <a:avLst/>
          </a:prstGeom>
          <a:ln w="285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155669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DB6773-4C52-C384-FFAD-FD54F5C205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93B7F-D7C2-72BE-1EA0-4D059ABE9C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0745" y="0"/>
            <a:ext cx="7691221" cy="2099388"/>
          </a:xfrm>
        </p:spPr>
        <p:txBody>
          <a:bodyPr/>
          <a:lstStyle/>
          <a:p>
            <a:r>
              <a:rPr lang="en-US" sz="3200" dirty="0"/>
              <a:t>Methodology: Hierarchical Density-Based Spatial Clustering of Applications with Noise (HBDSCAN)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B1B672-273A-A062-A2DB-AE43E1AE22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10745" y="2194559"/>
            <a:ext cx="7781727" cy="4495489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50" b="1" dirty="0"/>
              <a:t>Unsupervised learning </a:t>
            </a:r>
            <a:r>
              <a:rPr lang="en-US" sz="1650" dirty="0">
                <a:sym typeface="Wingdings" panose="05000000000000000000" pitchFamily="2" charset="2"/>
              </a:rPr>
              <a:t> </a:t>
            </a:r>
            <a:r>
              <a:rPr lang="en-US" sz="1650" b="1" dirty="0"/>
              <a:t>Identify natural groupings of exoplanets into their planetary systems </a:t>
            </a:r>
            <a:r>
              <a:rPr lang="en-US" sz="1650" dirty="0"/>
              <a:t>without predefined labels.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50" dirty="0"/>
              <a:t>Model </a:t>
            </a:r>
            <a:r>
              <a:rPr lang="en-US" sz="1650" b="1" dirty="0"/>
              <a:t>applied to the top 10 Earth-like planets </a:t>
            </a:r>
            <a:r>
              <a:rPr lang="en-US" sz="1650" dirty="0"/>
              <a:t>(from KNN Models #1 and #2) to </a:t>
            </a:r>
            <a:r>
              <a:rPr lang="en-US" sz="1650" b="1" dirty="0"/>
              <a:t>determine their cluster membership </a:t>
            </a:r>
            <a:r>
              <a:rPr lang="en-US" sz="1650" dirty="0"/>
              <a:t>(planetary system)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50" dirty="0"/>
              <a:t>Applied HDBSCAN to identify clusters of </a:t>
            </a:r>
            <a:r>
              <a:rPr lang="en-US" sz="1650" b="1" dirty="0"/>
              <a:t>varying density while automatically identifying and removing noise/outlier planets. </a:t>
            </a:r>
          </a:p>
          <a:p>
            <a:pPr marL="514350" lvl="1" indent="-285750"/>
            <a:r>
              <a:rPr lang="en-US" sz="1650" dirty="0"/>
              <a:t>Does not assume a shape and size of cluster nor distribution of data</a:t>
            </a:r>
          </a:p>
          <a:p>
            <a:pPr marL="514350" lvl="1" indent="-285750"/>
            <a:r>
              <a:rPr lang="en-US" sz="1650" dirty="0"/>
              <a:t>Detects clusters of different shapes and densities</a:t>
            </a:r>
          </a:p>
          <a:p>
            <a:pPr marL="285743" indent="-285743">
              <a:buFont typeface="Arial" panose="020B0604020202020204" pitchFamily="34" charset="0"/>
              <a:buChar char="•"/>
              <a:defRPr/>
            </a:pPr>
            <a:r>
              <a:rPr lang="en-US" sz="1650" dirty="0"/>
              <a:t>Partitions data into hierarchy of clusters, separating them from sparse noise/outliers, and selecting the most stable clusters</a:t>
            </a:r>
          </a:p>
          <a:p>
            <a:pPr marL="514343" lvl="1" indent="-285743">
              <a:defRPr/>
            </a:pPr>
            <a:r>
              <a:rPr lang="en-US" sz="1650" dirty="0"/>
              <a:t>Dense regions represent a specific cluster (planetary system)</a:t>
            </a:r>
          </a:p>
          <a:p>
            <a:pPr marL="285743" indent="-285743">
              <a:buFont typeface="Arial" panose="020B0604020202020204" pitchFamily="34" charset="0"/>
              <a:buChar char="•"/>
              <a:defRPr/>
            </a:pPr>
            <a:r>
              <a:rPr lang="en-US" sz="1650" dirty="0"/>
              <a:t>Data preprocessing:</a:t>
            </a:r>
          </a:p>
          <a:p>
            <a:pPr marL="654034" lvl="1" indent="-285743">
              <a:defRPr/>
            </a:pPr>
            <a:r>
              <a:rPr lang="en-US" sz="1650" dirty="0"/>
              <a:t>One-hot encoding for categorical features </a:t>
            </a:r>
          </a:p>
          <a:p>
            <a:pPr marL="654034" lvl="1" indent="-285743">
              <a:defRPr/>
            </a:pPr>
            <a:r>
              <a:rPr lang="en-US" sz="1650" dirty="0"/>
              <a:t>Feature normalization and scaling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E4DFD78A-9913-62F2-1810-8EC34A0B371D}"/>
              </a:ext>
            </a:extLst>
          </p:cNvPr>
          <p:cNvCxnSpPr>
            <a:cxnSpLocks/>
          </p:cNvCxnSpPr>
          <p:nvPr/>
        </p:nvCxnSpPr>
        <p:spPr>
          <a:xfrm>
            <a:off x="737118" y="0"/>
            <a:ext cx="0" cy="6727371"/>
          </a:xfrm>
          <a:prstGeom prst="line">
            <a:avLst/>
          </a:prstGeom>
          <a:ln w="285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146" name="Picture 2" descr="A gentle introduction to HDBSCAN and density-based clustering">
            <a:extLst>
              <a:ext uri="{FF2B5EF4-FFF2-40B4-BE49-F238E27FC236}">
                <a16:creationId xmlns:a16="http://schemas.microsoft.com/office/drawing/2014/main" id="{AC8D81AD-6E1D-124E-1F21-5BE2A70C78E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9528" y="619125"/>
            <a:ext cx="3819330" cy="2809875"/>
          </a:xfrm>
          <a:prstGeom prst="rect">
            <a:avLst/>
          </a:prstGeom>
          <a:noFill/>
          <a:ln w="19050">
            <a:solidFill>
              <a:schemeClr val="accent2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 descr="A gentle introduction to HDBSCAN and density-based clustering">
            <a:extLst>
              <a:ext uri="{FF2B5EF4-FFF2-40B4-BE49-F238E27FC236}">
                <a16:creationId xmlns:a16="http://schemas.microsoft.com/office/drawing/2014/main" id="{BC63FF17-D0ED-56B6-FD01-91B9CAEFB74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9527" y="3673248"/>
            <a:ext cx="3819331" cy="2809875"/>
          </a:xfrm>
          <a:prstGeom prst="rect">
            <a:avLst/>
          </a:prstGeom>
          <a:noFill/>
          <a:ln w="19050">
            <a:solidFill>
              <a:schemeClr val="accent2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947941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DEB73-6D44-635A-3F24-66C7588539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81C6E6E-6C47-1C14-8B98-8DE1A97378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96183" y="2580847"/>
            <a:ext cx="10302240" cy="1852046"/>
          </a:xfrm>
        </p:spPr>
        <p:txBody>
          <a:bodyPr/>
          <a:lstStyle/>
          <a:p>
            <a:pPr algn="ctr"/>
            <a:r>
              <a:rPr lang="en-US" dirty="0"/>
              <a:t>Exploratory Data Analysis (EDA) results</a:t>
            </a:r>
          </a:p>
        </p:txBody>
      </p:sp>
    </p:spTree>
    <p:extLst>
      <p:ext uri="{BB962C8B-B14F-4D97-AF65-F5344CB8AC3E}">
        <p14:creationId xmlns:p14="http://schemas.microsoft.com/office/powerpoint/2010/main" val="2506490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E5EE88DF-952B-158A-85AA-EAF846E4C8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978025" y="0"/>
            <a:ext cx="823595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906927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193636-B49A-8E0C-19D1-9FB4DA7450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>
            <a:extLst>
              <a:ext uri="{FF2B5EF4-FFF2-40B4-BE49-F238E27FC236}">
                <a16:creationId xmlns:a16="http://schemas.microsoft.com/office/drawing/2014/main" id="{A50521DF-4C49-E177-3EFD-4592F1C1D8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978025" y="0"/>
            <a:ext cx="823595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432378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A11669-3AA8-5D4D-1916-C02BE2BB80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>
            <a:extLst>
              <a:ext uri="{FF2B5EF4-FFF2-40B4-BE49-F238E27FC236}">
                <a16:creationId xmlns:a16="http://schemas.microsoft.com/office/drawing/2014/main" id="{D1A9FA7B-7334-5581-1E73-5903714302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667000" y="0"/>
            <a:ext cx="6858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497290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B64878-404B-8A16-0A07-CE8C267F4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>
            <a:extLst>
              <a:ext uri="{FF2B5EF4-FFF2-40B4-BE49-F238E27FC236}">
                <a16:creationId xmlns:a16="http://schemas.microsoft.com/office/drawing/2014/main" id="{545889F2-F8B0-FBEF-CB91-3AE70ED22F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667000" y="0"/>
            <a:ext cx="6858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9416907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BBD188-847E-16F8-1247-BF00AF7383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>
            <a:extLst>
              <a:ext uri="{FF2B5EF4-FFF2-40B4-BE49-F238E27FC236}">
                <a16:creationId xmlns:a16="http://schemas.microsoft.com/office/drawing/2014/main" id="{72FD6F4C-3B59-5CC8-F760-F53C032AB9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128713" y="0"/>
            <a:ext cx="993298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4301063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592BDB-0999-FAF4-48DB-BA721FD22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>
            <a:extLst>
              <a:ext uri="{FF2B5EF4-FFF2-40B4-BE49-F238E27FC236}">
                <a16:creationId xmlns:a16="http://schemas.microsoft.com/office/drawing/2014/main" id="{3E20DD81-0EA6-3305-2832-95B61AE0BD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123950" y="0"/>
            <a:ext cx="99441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1854051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59283A-6384-72DD-E723-CFBE8CA4D3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72" name="Picture 4">
            <a:extLst>
              <a:ext uri="{FF2B5EF4-FFF2-40B4-BE49-F238E27FC236}">
                <a16:creationId xmlns:a16="http://schemas.microsoft.com/office/drawing/2014/main" id="{734DBEA4-0959-8D4A-C00B-D1ED8BFA55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38188" y="0"/>
            <a:ext cx="1071562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5424522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5698432-2D58-D940-A0AE-7748E2A487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96183" y="3163077"/>
            <a:ext cx="10302240" cy="1269815"/>
          </a:xfrm>
        </p:spPr>
        <p:txBody>
          <a:bodyPr/>
          <a:lstStyle/>
          <a:p>
            <a:pPr algn="ctr"/>
            <a:r>
              <a:rPr lang="en-US" dirty="0"/>
              <a:t>Modeling results</a:t>
            </a:r>
          </a:p>
        </p:txBody>
      </p:sp>
    </p:spTree>
    <p:extLst>
      <p:ext uri="{BB962C8B-B14F-4D97-AF65-F5344CB8AC3E}">
        <p14:creationId xmlns:p14="http://schemas.microsoft.com/office/powerpoint/2010/main" val="374916872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4294C5-3E87-56C9-C850-1EEE1C3D2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10" name="Picture 2">
            <a:extLst>
              <a:ext uri="{FF2B5EF4-FFF2-40B4-BE49-F238E27FC236}">
                <a16:creationId xmlns:a16="http://schemas.microsoft.com/office/drawing/2014/main" id="{B2CE6C4D-197F-FF2E-F825-B572CB3180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49598" y="1067058"/>
            <a:ext cx="5835178" cy="57909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B934D4C-6D33-7368-6627-9B88A1FA77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1175688"/>
              </p:ext>
            </p:extLst>
          </p:nvPr>
        </p:nvGraphicFramePr>
        <p:xfrm>
          <a:off x="6704977" y="948354"/>
          <a:ext cx="4988768" cy="5803640"/>
        </p:xfrm>
        <a:graphic>
          <a:graphicData uri="http://schemas.openxmlformats.org/drawingml/2006/table">
            <a:tbl>
              <a:tblPr>
                <a:tableStyleId>{775DCB02-9BB8-47FD-8907-85C794F793BA}</a:tableStyleId>
              </a:tblPr>
              <a:tblGrid>
                <a:gridCol w="401217">
                  <a:extLst>
                    <a:ext uri="{9D8B030D-6E8A-4147-A177-3AD203B41FA5}">
                      <a16:colId xmlns:a16="http://schemas.microsoft.com/office/drawing/2014/main" val="2104744092"/>
                    </a:ext>
                  </a:extLst>
                </a:gridCol>
                <a:gridCol w="1267985">
                  <a:extLst>
                    <a:ext uri="{9D8B030D-6E8A-4147-A177-3AD203B41FA5}">
                      <a16:colId xmlns:a16="http://schemas.microsoft.com/office/drawing/2014/main" val="850957164"/>
                    </a:ext>
                  </a:extLst>
                </a:gridCol>
                <a:gridCol w="1028694">
                  <a:extLst>
                    <a:ext uri="{9D8B030D-6E8A-4147-A177-3AD203B41FA5}">
                      <a16:colId xmlns:a16="http://schemas.microsoft.com/office/drawing/2014/main" val="4227971008"/>
                    </a:ext>
                  </a:extLst>
                </a:gridCol>
                <a:gridCol w="1258284">
                  <a:extLst>
                    <a:ext uri="{9D8B030D-6E8A-4147-A177-3AD203B41FA5}">
                      <a16:colId xmlns:a16="http://schemas.microsoft.com/office/drawing/2014/main" val="3668668694"/>
                    </a:ext>
                  </a:extLst>
                </a:gridCol>
                <a:gridCol w="1032588">
                  <a:extLst>
                    <a:ext uri="{9D8B030D-6E8A-4147-A177-3AD203B41FA5}">
                      <a16:colId xmlns:a16="http://schemas.microsoft.com/office/drawing/2014/main" val="3810839358"/>
                    </a:ext>
                  </a:extLst>
                </a:gridCol>
              </a:tblGrid>
              <a:tr h="368707">
                <a:tc gridSpan="5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500" b="1" kern="100" dirty="0">
                          <a:effectLst/>
                        </a:rPr>
                        <a:t>Top 10 Earth-Like Exoplanets KNN Model Comparison</a:t>
                      </a:r>
                      <a:endParaRPr lang="en-US" sz="15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813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7096607"/>
                  </a:ext>
                </a:extLst>
              </a:tr>
              <a:tr h="534873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 dirty="0">
                          <a:effectLst/>
                        </a:rPr>
                        <a:t>Rank  </a:t>
                      </a:r>
                      <a:endParaRPr lang="en-US" sz="1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77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 dirty="0">
                          <a:effectLst/>
                        </a:rPr>
                        <a:t>KNN Model #1</a:t>
                      </a:r>
                      <a:endParaRPr lang="en-US" sz="1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77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 dirty="0">
                          <a:effectLst/>
                        </a:rPr>
                        <a:t>Manhattan Distance</a:t>
                      </a:r>
                      <a:endParaRPr lang="en-US" sz="1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77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 dirty="0">
                          <a:effectLst/>
                        </a:rPr>
                        <a:t>KNN Model #2</a:t>
                      </a:r>
                      <a:endParaRPr lang="en-US" sz="1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77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 dirty="0">
                          <a:effectLst/>
                        </a:rPr>
                        <a:t>Euclidean Distance</a:t>
                      </a:r>
                      <a:endParaRPr lang="en-US" sz="1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77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7815564"/>
                  </a:ext>
                </a:extLst>
              </a:tr>
              <a:tr h="49000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1</a:t>
                      </a:r>
                      <a:endParaRPr lang="en-US" sz="1800" b="1" kern="10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 dirty="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Kepler-452 b</a:t>
                      </a:r>
                      <a:endParaRPr lang="en-US" sz="1800" b="1" kern="100" dirty="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 dirty="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10.1463</a:t>
                      </a:r>
                      <a:endParaRPr lang="en-US" sz="1800" b="1" kern="100" dirty="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Kepler-452 b</a:t>
                      </a:r>
                      <a:endParaRPr lang="en-US" sz="1800" b="1" kern="10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 dirty="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5.2408</a:t>
                      </a:r>
                      <a:endParaRPr lang="en-US" sz="1800" b="1" kern="100" dirty="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7794241"/>
                  </a:ext>
                </a:extLst>
              </a:tr>
              <a:tr h="49000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2</a:t>
                      </a:r>
                      <a:endParaRPr lang="en-US" sz="1800" b="1" kern="10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Kepler-1638 b</a:t>
                      </a:r>
                      <a:endParaRPr lang="en-US" sz="1800" b="1" kern="10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16.6309</a:t>
                      </a:r>
                      <a:endParaRPr lang="en-US" sz="1800" b="1" kern="10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 dirty="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Kepler-1638 b</a:t>
                      </a:r>
                      <a:endParaRPr lang="en-US" sz="1800" b="1" kern="100" dirty="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7.1452</a:t>
                      </a:r>
                      <a:endParaRPr lang="en-US" sz="1800" b="1" kern="10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7316471"/>
                  </a:ext>
                </a:extLst>
              </a:tr>
              <a:tr h="49000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3</a:t>
                      </a:r>
                      <a:endParaRPr lang="en-US" sz="1800" b="1" kern="10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Kepler-51 e</a:t>
                      </a:r>
                      <a:endParaRPr lang="en-US" sz="1800" b="1" kern="10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 dirty="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16.7816</a:t>
                      </a:r>
                      <a:endParaRPr lang="en-US" sz="1800" b="1" kern="100" dirty="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Kepler-51 e</a:t>
                      </a:r>
                      <a:endParaRPr lang="en-US" sz="1800" b="1" kern="10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 dirty="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7.7652</a:t>
                      </a:r>
                      <a:endParaRPr lang="en-US" sz="1800" b="1" kern="100" dirty="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15085677"/>
                  </a:ext>
                </a:extLst>
              </a:tr>
              <a:tr h="49000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4</a:t>
                      </a:r>
                      <a:endParaRPr lang="en-US" sz="1800" b="1" kern="10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Kepler-1606 b</a:t>
                      </a:r>
                      <a:endParaRPr lang="en-US" sz="1800" b="1" kern="10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19.284</a:t>
                      </a:r>
                      <a:endParaRPr lang="en-US" sz="1800" b="1" kern="10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 dirty="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Kepler-1606 b</a:t>
                      </a:r>
                      <a:endParaRPr lang="en-US" sz="1800" b="1" kern="100" dirty="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8.2007</a:t>
                      </a:r>
                      <a:endParaRPr lang="en-US" sz="1800" b="1" kern="10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57522369"/>
                  </a:ext>
                </a:extLst>
              </a:tr>
              <a:tr h="49000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5</a:t>
                      </a:r>
                      <a:endParaRPr lang="en-US" sz="1800" b="1" kern="10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Kepler-1701 b</a:t>
                      </a:r>
                      <a:endParaRPr lang="en-US" sz="1800" b="1" kern="10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20.1409</a:t>
                      </a:r>
                      <a:endParaRPr lang="en-US" sz="1800" b="1" kern="10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 dirty="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Kepler-1701 b</a:t>
                      </a:r>
                      <a:endParaRPr lang="en-US" sz="1800" b="1" kern="100" dirty="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 dirty="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8.466</a:t>
                      </a:r>
                      <a:endParaRPr lang="en-US" sz="1800" b="1" kern="100" dirty="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01593386"/>
                  </a:ext>
                </a:extLst>
              </a:tr>
              <a:tr h="49000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6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</a:rPr>
                        <a:t>Kepler-22 b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20.8885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Kepler-1126 c 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</a:rPr>
                        <a:t>9.4643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8853558"/>
                  </a:ext>
                </a:extLst>
              </a:tr>
              <a:tr h="49000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7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</a:rPr>
                        <a:t>Kepler-1126 c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22.4542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Kepler-69 c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</a:rPr>
                        <a:t>9.9627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42887206"/>
                  </a:ext>
                </a:extLst>
              </a:tr>
              <a:tr h="49000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8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Kepler-1549 b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22.9228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Kepler-1185 b 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</a:rPr>
                        <a:t>10.35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46453233"/>
                  </a:ext>
                </a:extLst>
              </a:tr>
              <a:tr h="49000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9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Kepler-1690 b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23.2328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Kepler-442 b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</a:rPr>
                        <a:t>10.3699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56868692"/>
                  </a:ext>
                </a:extLst>
              </a:tr>
              <a:tr h="49000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</a:rPr>
                        <a:t>Kepler-69 c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23.5054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Kepler-311 d 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</a:rPr>
                        <a:t>10.3847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1178593"/>
                  </a:ext>
                </a:extLst>
              </a:tr>
            </a:tbl>
          </a:graphicData>
        </a:graphic>
      </p:graphicFrame>
      <p:sp>
        <p:nvSpPr>
          <p:cNvPr id="20" name="Title 3">
            <a:extLst>
              <a:ext uri="{FF2B5EF4-FFF2-40B4-BE49-F238E27FC236}">
                <a16:creationId xmlns:a16="http://schemas.microsoft.com/office/drawing/2014/main" id="{69C298CF-67E9-CE22-6DC4-94E5ED6D5A5D}"/>
              </a:ext>
            </a:extLst>
          </p:cNvPr>
          <p:cNvSpPr txBox="1">
            <a:spLocks/>
          </p:cNvSpPr>
          <p:nvPr/>
        </p:nvSpPr>
        <p:spPr>
          <a:xfrm>
            <a:off x="1289800" y="102904"/>
            <a:ext cx="10302240" cy="727788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ts val="4000"/>
              </a:lnSpc>
              <a:spcBef>
                <a:spcPct val="0"/>
              </a:spcBef>
              <a:buNone/>
              <a:defRPr sz="4000" b="1" kern="1200" cap="all" spc="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KNN Modeling results</a:t>
            </a:r>
          </a:p>
        </p:txBody>
      </p:sp>
    </p:spTree>
    <p:extLst>
      <p:ext uri="{BB962C8B-B14F-4D97-AF65-F5344CB8AC3E}">
        <p14:creationId xmlns:p14="http://schemas.microsoft.com/office/powerpoint/2010/main" val="203967821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9CE4B3-EDBB-5C8F-0023-9BDD70D44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31F8DD0-E993-4244-8EA1-D7B2EA5F8B5F}"/>
              </a:ext>
            </a:extLst>
          </p:cNvPr>
          <p:cNvCxnSpPr>
            <a:cxnSpLocks/>
          </p:cNvCxnSpPr>
          <p:nvPr/>
        </p:nvCxnSpPr>
        <p:spPr>
          <a:xfrm>
            <a:off x="737118" y="0"/>
            <a:ext cx="0" cy="685800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itle 3">
            <a:extLst>
              <a:ext uri="{FF2B5EF4-FFF2-40B4-BE49-F238E27FC236}">
                <a16:creationId xmlns:a16="http://schemas.microsoft.com/office/drawing/2014/main" id="{E80269B7-CDA4-CBDD-6771-FDAD05EEDB4B}"/>
              </a:ext>
            </a:extLst>
          </p:cNvPr>
          <p:cNvSpPr txBox="1">
            <a:spLocks/>
          </p:cNvSpPr>
          <p:nvPr/>
        </p:nvSpPr>
        <p:spPr>
          <a:xfrm>
            <a:off x="944880" y="0"/>
            <a:ext cx="10302240" cy="727788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ts val="4000"/>
              </a:lnSpc>
              <a:spcBef>
                <a:spcPct val="0"/>
              </a:spcBef>
              <a:buNone/>
              <a:defRPr sz="4000" b="1" kern="1200" cap="all" spc="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K Means Clustering results</a:t>
            </a:r>
          </a:p>
        </p:txBody>
      </p:sp>
      <p:pic>
        <p:nvPicPr>
          <p:cNvPr id="18434" name="Picture 2">
            <a:extLst>
              <a:ext uri="{FF2B5EF4-FFF2-40B4-BE49-F238E27FC236}">
                <a16:creationId xmlns:a16="http://schemas.microsoft.com/office/drawing/2014/main" id="{BEE8FC5C-E35A-DD19-F326-D03471AEC17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4966" y="956604"/>
            <a:ext cx="6941870" cy="56327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436" name="Picture 4">
            <a:extLst>
              <a:ext uri="{FF2B5EF4-FFF2-40B4-BE49-F238E27FC236}">
                <a16:creationId xmlns:a16="http://schemas.microsoft.com/office/drawing/2014/main" id="{C9F8D4D8-04EC-F79C-0DEE-78F548A9870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162518" y="5327780"/>
            <a:ext cx="2647038" cy="7348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4AD0977-4B88-DF0F-FB5A-A12A8462F7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6504734"/>
              </p:ext>
            </p:extLst>
          </p:nvPr>
        </p:nvGraphicFramePr>
        <p:xfrm>
          <a:off x="7117464" y="2286000"/>
          <a:ext cx="4909693" cy="2988617"/>
        </p:xfrm>
        <a:graphic>
          <a:graphicData uri="http://schemas.openxmlformats.org/drawingml/2006/table">
            <a:tbl>
              <a:tblPr>
                <a:tableStyleId>{775DCB02-9BB8-47FD-8907-85C794F793BA}</a:tableStyleId>
              </a:tblPr>
              <a:tblGrid>
                <a:gridCol w="652391">
                  <a:extLst>
                    <a:ext uri="{9D8B030D-6E8A-4147-A177-3AD203B41FA5}">
                      <a16:colId xmlns:a16="http://schemas.microsoft.com/office/drawing/2014/main" val="3205235681"/>
                    </a:ext>
                  </a:extLst>
                </a:gridCol>
                <a:gridCol w="1689300">
                  <a:extLst>
                    <a:ext uri="{9D8B030D-6E8A-4147-A177-3AD203B41FA5}">
                      <a16:colId xmlns:a16="http://schemas.microsoft.com/office/drawing/2014/main" val="2782077150"/>
                    </a:ext>
                  </a:extLst>
                </a:gridCol>
                <a:gridCol w="2568002">
                  <a:extLst>
                    <a:ext uri="{9D8B030D-6E8A-4147-A177-3AD203B41FA5}">
                      <a16:colId xmlns:a16="http://schemas.microsoft.com/office/drawing/2014/main" val="2131620936"/>
                    </a:ext>
                  </a:extLst>
                </a:gridCol>
              </a:tblGrid>
              <a:tr h="301170">
                <a:tc gridSpan="3">
                  <a:txBody>
                    <a:bodyPr/>
                    <a:lstStyle/>
                    <a:p>
                      <a:pPr marL="0" marR="0" algn="ctr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kern="1200" dirty="0">
                          <a:effectLst/>
                        </a:rPr>
                        <a:t>K-Means Clustering Results for Top 5 Earth-Like Exoplanets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232129"/>
                  </a:ext>
                </a:extLst>
              </a:tr>
              <a:tr h="409654">
                <a:tc>
                  <a:txBody>
                    <a:bodyPr/>
                    <a:lstStyle/>
                    <a:p>
                      <a:pPr marL="0" marR="0" algn="ctr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200" dirty="0">
                          <a:effectLst/>
                        </a:rPr>
                        <a:t>Rank</a:t>
                      </a:r>
                      <a:endParaRPr lang="en-US" sz="1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85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200" dirty="0">
                          <a:effectLst/>
                        </a:rPr>
                        <a:t>Planet</a:t>
                      </a:r>
                      <a:endParaRPr lang="en-US" sz="1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85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200" dirty="0">
                          <a:effectLst/>
                        </a:rPr>
                        <a:t>Cluster_Type (Planetary System)</a:t>
                      </a:r>
                      <a:endParaRPr lang="en-US" sz="1200" b="1" kern="100" dirty="0">
                        <a:effectLst/>
                        <a:latin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8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2749179"/>
                  </a:ext>
                </a:extLst>
              </a:tr>
              <a:tr h="374106"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1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A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Kepler-452 b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A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Sun-Like Planetary System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A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1272827"/>
                  </a:ext>
                </a:extLst>
              </a:tr>
              <a:tr h="486715"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>
                          <a:effectLst/>
                        </a:rPr>
                        <a:t>2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A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Kepler-1638 b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A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Sun-Like Planetary System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A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5282469"/>
                  </a:ext>
                </a:extLst>
              </a:tr>
              <a:tr h="420909"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>
                          <a:effectLst/>
                        </a:rPr>
                        <a:t>3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A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Kepler-51 e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A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Sun-Like Planetary System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A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0975070"/>
                  </a:ext>
                </a:extLst>
              </a:tr>
              <a:tr h="419286"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4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A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Kepler-1606 b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A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Sun-Like Planetary System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A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2090812"/>
                  </a:ext>
                </a:extLst>
              </a:tr>
              <a:tr h="419286"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>
                          <a:effectLst/>
                        </a:rPr>
                        <a:t>5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A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>
                          <a:effectLst/>
                        </a:rPr>
                        <a:t>Kepler-1701 b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A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Sun-Like Planetary System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A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19287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4882630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841B72-EEE8-DC65-539D-1233744369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7BF02F5-8AF0-55DA-B78D-98262C2EB125}"/>
              </a:ext>
            </a:extLst>
          </p:cNvPr>
          <p:cNvCxnSpPr>
            <a:cxnSpLocks/>
          </p:cNvCxnSpPr>
          <p:nvPr/>
        </p:nvCxnSpPr>
        <p:spPr>
          <a:xfrm>
            <a:off x="737118" y="0"/>
            <a:ext cx="0" cy="685800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itle 3">
            <a:extLst>
              <a:ext uri="{FF2B5EF4-FFF2-40B4-BE49-F238E27FC236}">
                <a16:creationId xmlns:a16="http://schemas.microsoft.com/office/drawing/2014/main" id="{2B28F841-8606-5D8C-50D1-C7CE9D75E536}"/>
              </a:ext>
            </a:extLst>
          </p:cNvPr>
          <p:cNvSpPr txBox="1">
            <a:spLocks/>
          </p:cNvSpPr>
          <p:nvPr/>
        </p:nvSpPr>
        <p:spPr>
          <a:xfrm>
            <a:off x="944880" y="0"/>
            <a:ext cx="10302240" cy="727788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ts val="4000"/>
              </a:lnSpc>
              <a:spcBef>
                <a:spcPct val="0"/>
              </a:spcBef>
              <a:buNone/>
              <a:defRPr sz="4000" b="1" kern="1200" cap="all" spc="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GMM Clustering results</a:t>
            </a:r>
          </a:p>
        </p:txBody>
      </p:sp>
      <p:pic>
        <p:nvPicPr>
          <p:cNvPr id="19458" name="Picture 2">
            <a:extLst>
              <a:ext uri="{FF2B5EF4-FFF2-40B4-BE49-F238E27FC236}">
                <a16:creationId xmlns:a16="http://schemas.microsoft.com/office/drawing/2014/main" id="{588D290D-AC0B-C740-B52C-81379487EEE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65424" y="727788"/>
            <a:ext cx="7489468" cy="60369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460" name="Picture 4">
            <a:extLst>
              <a:ext uri="{FF2B5EF4-FFF2-40B4-BE49-F238E27FC236}">
                <a16:creationId xmlns:a16="http://schemas.microsoft.com/office/drawing/2014/main" id="{A892E323-2566-D860-4CB9-F164FD74B4E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898573" y="4890405"/>
            <a:ext cx="2554740" cy="13424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8487EE0-6F8D-ADC7-8112-1219E22A6B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5075501"/>
              </p:ext>
            </p:extLst>
          </p:nvPr>
        </p:nvGraphicFramePr>
        <p:xfrm>
          <a:off x="7654892" y="1073020"/>
          <a:ext cx="4371684" cy="5171185"/>
        </p:xfrm>
        <a:graphic>
          <a:graphicData uri="http://schemas.openxmlformats.org/drawingml/2006/table">
            <a:tbl>
              <a:tblPr>
                <a:tableStyleId>{9DCAF9ED-07DC-4A11-8D7F-57B35C25682E}</a:tableStyleId>
              </a:tblPr>
              <a:tblGrid>
                <a:gridCol w="562781">
                  <a:extLst>
                    <a:ext uri="{9D8B030D-6E8A-4147-A177-3AD203B41FA5}">
                      <a16:colId xmlns:a16="http://schemas.microsoft.com/office/drawing/2014/main" val="643828471"/>
                    </a:ext>
                  </a:extLst>
                </a:gridCol>
                <a:gridCol w="1134567">
                  <a:extLst>
                    <a:ext uri="{9D8B030D-6E8A-4147-A177-3AD203B41FA5}">
                      <a16:colId xmlns:a16="http://schemas.microsoft.com/office/drawing/2014/main" val="2840368028"/>
                    </a:ext>
                  </a:extLst>
                </a:gridCol>
                <a:gridCol w="1701850">
                  <a:extLst>
                    <a:ext uri="{9D8B030D-6E8A-4147-A177-3AD203B41FA5}">
                      <a16:colId xmlns:a16="http://schemas.microsoft.com/office/drawing/2014/main" val="2230617645"/>
                    </a:ext>
                  </a:extLst>
                </a:gridCol>
                <a:gridCol w="972486">
                  <a:extLst>
                    <a:ext uri="{9D8B030D-6E8A-4147-A177-3AD203B41FA5}">
                      <a16:colId xmlns:a16="http://schemas.microsoft.com/office/drawing/2014/main" val="1609522939"/>
                    </a:ext>
                  </a:extLst>
                </a:gridCol>
              </a:tblGrid>
              <a:tr h="475862">
                <a:tc gridSpan="4">
                  <a:txBody>
                    <a:bodyPr/>
                    <a:lstStyle/>
                    <a:p>
                      <a:pPr marL="0" marR="0" algn="ctr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kern="1200" dirty="0">
                          <a:effectLst/>
                        </a:rPr>
                        <a:t>GMM Results for Top 5 Earth-Like Exoplanets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CCCC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7025205"/>
                  </a:ext>
                </a:extLst>
              </a:tr>
              <a:tr h="609413">
                <a:tc>
                  <a:txBody>
                    <a:bodyPr/>
                    <a:lstStyle/>
                    <a:p>
                      <a:pPr marL="0" marR="0" algn="ctr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200" dirty="0">
                          <a:effectLst/>
                        </a:rPr>
                        <a:t>Rank</a:t>
                      </a:r>
                      <a:endParaRPr lang="en-US" sz="1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CE0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200" dirty="0">
                          <a:effectLst/>
                        </a:rPr>
                        <a:t>Planet</a:t>
                      </a:r>
                      <a:endParaRPr lang="en-US" sz="1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CE0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200" dirty="0">
                          <a:effectLst/>
                        </a:rPr>
                        <a:t>Cluster_Type</a:t>
                      </a:r>
                      <a:r>
                        <a:rPr lang="en-US" sz="1200" b="1" kern="100" dirty="0">
                          <a:effectLst/>
                        </a:rPr>
                        <a:t> </a:t>
                      </a:r>
                      <a:r>
                        <a:rPr lang="en-US" sz="1200" b="1" kern="1200" dirty="0">
                          <a:effectLst/>
                        </a:rPr>
                        <a:t>(Planetary System)</a:t>
                      </a:r>
                      <a:endParaRPr lang="en-US" sz="1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CE0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200" dirty="0">
                          <a:effectLst/>
                        </a:rPr>
                        <a:t>Cluster Probability</a:t>
                      </a:r>
                      <a:endParaRPr lang="en-US" sz="1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CE0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738402"/>
                  </a:ext>
                </a:extLst>
              </a:tr>
              <a:tr h="704225"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1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F3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Kepler-452 b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F3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Sun-Like star hosting Earth-sized and Super-Earth-sized rocky planets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F3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100%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F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6045851"/>
                  </a:ext>
                </a:extLst>
              </a:tr>
              <a:tr h="704225"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>
                          <a:effectLst/>
                        </a:rPr>
                        <a:t>2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F3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Kepler-1638 b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F3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Sun-Like star hosting Earth-sized and Super-Earth-sized rocky planets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F3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>
                          <a:effectLst/>
                        </a:rPr>
                        <a:t>100%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F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4520961"/>
                  </a:ext>
                </a:extLst>
              </a:tr>
              <a:tr h="704225"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>
                          <a:effectLst/>
                        </a:rPr>
                        <a:t>3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F3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>
                          <a:effectLst/>
                        </a:rPr>
                        <a:t>Kepler-51 e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F3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>
                          <a:effectLst/>
                        </a:rPr>
                        <a:t>Sun-Like star hosting Earth-sized and Super-Earth-sized rocky planets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F3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100%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F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8947311"/>
                  </a:ext>
                </a:extLst>
              </a:tr>
              <a:tr h="704225"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>
                          <a:effectLst/>
                        </a:rPr>
                        <a:t>4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F3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>
                          <a:effectLst/>
                        </a:rPr>
                        <a:t>Kepler-1606 b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F3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>
                          <a:effectLst/>
                        </a:rPr>
                        <a:t>Sun-Like star hosting Earth-sized and Super-Earth-sized rocky planets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F3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100%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F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1966449"/>
                  </a:ext>
                </a:extLst>
              </a:tr>
              <a:tr h="704225"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>
                          <a:effectLst/>
                        </a:rPr>
                        <a:t>5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F3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Kepler-1701 b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F3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>
                          <a:effectLst/>
                        </a:rPr>
                        <a:t>Sun-Like star hosting Earth-sized and Super-Earth-sized rocky planets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F3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100%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F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573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2544249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CDA950-7C18-E277-E5FC-19481C27CE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AF2C3A10-351D-F7DA-8FF7-C56F6A3F1BEF}"/>
              </a:ext>
            </a:extLst>
          </p:cNvPr>
          <p:cNvCxnSpPr>
            <a:cxnSpLocks/>
          </p:cNvCxnSpPr>
          <p:nvPr/>
        </p:nvCxnSpPr>
        <p:spPr>
          <a:xfrm>
            <a:off x="737118" y="0"/>
            <a:ext cx="0" cy="685800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itle 3">
            <a:extLst>
              <a:ext uri="{FF2B5EF4-FFF2-40B4-BE49-F238E27FC236}">
                <a16:creationId xmlns:a16="http://schemas.microsoft.com/office/drawing/2014/main" id="{28FB4C9E-0737-0432-D715-E80360C8CDE1}"/>
              </a:ext>
            </a:extLst>
          </p:cNvPr>
          <p:cNvSpPr txBox="1">
            <a:spLocks/>
          </p:cNvSpPr>
          <p:nvPr/>
        </p:nvSpPr>
        <p:spPr>
          <a:xfrm>
            <a:off x="944880" y="0"/>
            <a:ext cx="10302240" cy="727788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ts val="4000"/>
              </a:lnSpc>
              <a:spcBef>
                <a:spcPct val="0"/>
              </a:spcBef>
              <a:buNone/>
              <a:defRPr sz="4000" b="1" kern="1200" cap="all" spc="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GMM Clustering results</a:t>
            </a:r>
          </a:p>
        </p:txBody>
      </p:sp>
      <p:pic>
        <p:nvPicPr>
          <p:cNvPr id="20482" name="Picture 2">
            <a:extLst>
              <a:ext uri="{FF2B5EF4-FFF2-40B4-BE49-F238E27FC236}">
                <a16:creationId xmlns:a16="http://schemas.microsoft.com/office/drawing/2014/main" id="{11A69D79-B409-CC49-00BB-B7D0171CF0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660778" y="1001194"/>
            <a:ext cx="6850138" cy="5446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3262300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C18DC5-4864-45B0-B3B6-D8C5768C7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E49B7A42-3141-1079-018A-45F9CC5368E7}"/>
              </a:ext>
            </a:extLst>
          </p:cNvPr>
          <p:cNvCxnSpPr>
            <a:cxnSpLocks/>
          </p:cNvCxnSpPr>
          <p:nvPr/>
        </p:nvCxnSpPr>
        <p:spPr>
          <a:xfrm>
            <a:off x="737118" y="0"/>
            <a:ext cx="0" cy="685800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itle 3">
            <a:extLst>
              <a:ext uri="{FF2B5EF4-FFF2-40B4-BE49-F238E27FC236}">
                <a16:creationId xmlns:a16="http://schemas.microsoft.com/office/drawing/2014/main" id="{784FC275-75F5-8835-B5CC-7B232666523E}"/>
              </a:ext>
            </a:extLst>
          </p:cNvPr>
          <p:cNvSpPr txBox="1">
            <a:spLocks/>
          </p:cNvSpPr>
          <p:nvPr/>
        </p:nvSpPr>
        <p:spPr>
          <a:xfrm>
            <a:off x="944880" y="402259"/>
            <a:ext cx="10302240" cy="727788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ts val="4000"/>
              </a:lnSpc>
              <a:spcBef>
                <a:spcPct val="0"/>
              </a:spcBef>
              <a:buNone/>
              <a:defRPr sz="4000" b="1" kern="1200" cap="all" spc="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HDBSCAN Clustering results</a:t>
            </a:r>
          </a:p>
        </p:txBody>
      </p:sp>
      <p:pic>
        <p:nvPicPr>
          <p:cNvPr id="21506" name="Picture 2">
            <a:extLst>
              <a:ext uri="{FF2B5EF4-FFF2-40B4-BE49-F238E27FC236}">
                <a16:creationId xmlns:a16="http://schemas.microsoft.com/office/drawing/2014/main" id="{F73EDFE1-1AB9-1636-BD56-FCCBF697B8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79612" y="1372644"/>
            <a:ext cx="5614771" cy="45149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510" name="Picture 6">
            <a:extLst>
              <a:ext uri="{FF2B5EF4-FFF2-40B4-BE49-F238E27FC236}">
                <a16:creationId xmlns:a16="http://schemas.microsoft.com/office/drawing/2014/main" id="{6D52B3E0-5321-C4AC-723E-94AB8033F4F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737111" y="1484091"/>
            <a:ext cx="717778" cy="4216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262AD5C4-A85C-6E5D-FF9B-9234E778F9DD}"/>
              </a:ext>
            </a:extLst>
          </p:cNvPr>
          <p:cNvCxnSpPr/>
          <p:nvPr/>
        </p:nvCxnSpPr>
        <p:spPr>
          <a:xfrm>
            <a:off x="6559420" y="3564294"/>
            <a:ext cx="653143" cy="0"/>
          </a:xfrm>
          <a:prstGeom prst="straightConnector1">
            <a:avLst/>
          </a:prstGeom>
          <a:ln w="571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74" name="Picture 2">
            <a:extLst>
              <a:ext uri="{FF2B5EF4-FFF2-40B4-BE49-F238E27FC236}">
                <a16:creationId xmlns:a16="http://schemas.microsoft.com/office/drawing/2014/main" id="{C9D05000-3815-A013-12CB-712EBD5DE3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7094" y="1623016"/>
            <a:ext cx="4874906" cy="40038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4563424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EF204-2FB0-2117-8EFC-C2EF2CAE67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3FDA811-2AEA-FB68-2C77-7E879421CD6C}"/>
              </a:ext>
            </a:extLst>
          </p:cNvPr>
          <p:cNvCxnSpPr>
            <a:cxnSpLocks/>
          </p:cNvCxnSpPr>
          <p:nvPr/>
        </p:nvCxnSpPr>
        <p:spPr>
          <a:xfrm>
            <a:off x="737118" y="0"/>
            <a:ext cx="0" cy="685800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itle 3">
            <a:extLst>
              <a:ext uri="{FF2B5EF4-FFF2-40B4-BE49-F238E27FC236}">
                <a16:creationId xmlns:a16="http://schemas.microsoft.com/office/drawing/2014/main" id="{D4201117-013F-7164-AA07-7672CC1846E4}"/>
              </a:ext>
            </a:extLst>
          </p:cNvPr>
          <p:cNvSpPr txBox="1">
            <a:spLocks/>
          </p:cNvSpPr>
          <p:nvPr/>
        </p:nvSpPr>
        <p:spPr>
          <a:xfrm>
            <a:off x="944880" y="409992"/>
            <a:ext cx="10302240" cy="727788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ts val="4000"/>
              </a:lnSpc>
              <a:spcBef>
                <a:spcPct val="0"/>
              </a:spcBef>
              <a:buNone/>
              <a:defRPr sz="4000" b="1" kern="1200" cap="all" spc="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HDBSCAN Clustering results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62339DC7-CCF7-FA15-602F-E4003709BCD6}"/>
              </a:ext>
            </a:extLst>
          </p:cNvPr>
          <p:cNvCxnSpPr/>
          <p:nvPr/>
        </p:nvCxnSpPr>
        <p:spPr>
          <a:xfrm>
            <a:off x="5918718" y="3601616"/>
            <a:ext cx="653143" cy="0"/>
          </a:xfrm>
          <a:prstGeom prst="straightConnector1">
            <a:avLst/>
          </a:prstGeom>
          <a:ln w="571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1">
            <a:extLst>
              <a:ext uri="{FF2B5EF4-FFF2-40B4-BE49-F238E27FC236}">
                <a16:creationId xmlns:a16="http://schemas.microsoft.com/office/drawing/2014/main" id="{FEF40927-DF8B-DDEB-DE7E-D810DB3872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571861" y="1568165"/>
            <a:ext cx="5516201" cy="44955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BAA4F015-3B37-6647-4595-5824D373C4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938" y="1505047"/>
            <a:ext cx="5627263" cy="46217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1290749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AD44C0-7E7F-5148-1289-45F1E831DF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6878FDB-1516-27AC-80AA-3FC20127545B}"/>
              </a:ext>
            </a:extLst>
          </p:cNvPr>
          <p:cNvCxnSpPr>
            <a:cxnSpLocks/>
          </p:cNvCxnSpPr>
          <p:nvPr/>
        </p:nvCxnSpPr>
        <p:spPr>
          <a:xfrm>
            <a:off x="737118" y="0"/>
            <a:ext cx="0" cy="685800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itle 3">
            <a:extLst>
              <a:ext uri="{FF2B5EF4-FFF2-40B4-BE49-F238E27FC236}">
                <a16:creationId xmlns:a16="http://schemas.microsoft.com/office/drawing/2014/main" id="{0E102862-5FAB-E629-2A78-36385C9D34DB}"/>
              </a:ext>
            </a:extLst>
          </p:cNvPr>
          <p:cNvSpPr txBox="1">
            <a:spLocks/>
          </p:cNvSpPr>
          <p:nvPr/>
        </p:nvSpPr>
        <p:spPr>
          <a:xfrm>
            <a:off x="944880" y="409992"/>
            <a:ext cx="10302240" cy="727788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ts val="4000"/>
              </a:lnSpc>
              <a:spcBef>
                <a:spcPct val="0"/>
              </a:spcBef>
              <a:buNone/>
              <a:defRPr sz="4000" b="1" kern="1200" cap="all" spc="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HDBSCAN Clustering results</a:t>
            </a:r>
          </a:p>
        </p:txBody>
      </p:sp>
      <p:pic>
        <p:nvPicPr>
          <p:cNvPr id="22530" name="Picture 2">
            <a:extLst>
              <a:ext uri="{FF2B5EF4-FFF2-40B4-BE49-F238E27FC236}">
                <a16:creationId xmlns:a16="http://schemas.microsoft.com/office/drawing/2014/main" id="{07776309-E2EF-B71C-669E-DE15F4AC52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519381" y="1560754"/>
            <a:ext cx="5473566" cy="44955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8363B92-9A7A-90F9-7484-D042AD5375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56419" y="1560755"/>
            <a:ext cx="5516201" cy="449555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1AE4980-02AC-5618-D504-059E47CDE90D}"/>
              </a:ext>
            </a:extLst>
          </p:cNvPr>
          <p:cNvCxnSpPr/>
          <p:nvPr/>
        </p:nvCxnSpPr>
        <p:spPr>
          <a:xfrm>
            <a:off x="5866238" y="3620277"/>
            <a:ext cx="653143" cy="0"/>
          </a:xfrm>
          <a:prstGeom prst="straightConnector1">
            <a:avLst/>
          </a:prstGeom>
          <a:ln w="571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7404176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FBA077-DA4C-0FDB-BFE5-4F4907DD7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BD26001A-DD96-6C6B-344D-8AFACA0A6CDA}"/>
              </a:ext>
            </a:extLst>
          </p:cNvPr>
          <p:cNvCxnSpPr>
            <a:cxnSpLocks/>
          </p:cNvCxnSpPr>
          <p:nvPr/>
        </p:nvCxnSpPr>
        <p:spPr>
          <a:xfrm>
            <a:off x="737118" y="0"/>
            <a:ext cx="0" cy="685800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itle 3">
            <a:extLst>
              <a:ext uri="{FF2B5EF4-FFF2-40B4-BE49-F238E27FC236}">
                <a16:creationId xmlns:a16="http://schemas.microsoft.com/office/drawing/2014/main" id="{59222D95-8B3F-99AC-A608-BADE2BFD01CE}"/>
              </a:ext>
            </a:extLst>
          </p:cNvPr>
          <p:cNvSpPr txBox="1">
            <a:spLocks/>
          </p:cNvSpPr>
          <p:nvPr/>
        </p:nvSpPr>
        <p:spPr>
          <a:xfrm>
            <a:off x="944880" y="409992"/>
            <a:ext cx="10302240" cy="727788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ts val="4000"/>
              </a:lnSpc>
              <a:spcBef>
                <a:spcPct val="0"/>
              </a:spcBef>
              <a:buNone/>
              <a:defRPr sz="4000" b="1" kern="1200" cap="all" spc="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HDBSCAN Clustering results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7854F0D-B97B-763B-473D-38B57B2195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4457307"/>
              </p:ext>
            </p:extLst>
          </p:nvPr>
        </p:nvGraphicFramePr>
        <p:xfrm>
          <a:off x="6615406" y="1539557"/>
          <a:ext cx="5225140" cy="5064228"/>
        </p:xfrm>
        <a:graphic>
          <a:graphicData uri="http://schemas.openxmlformats.org/drawingml/2006/table">
            <a:tbl>
              <a:tblPr>
                <a:tableStyleId>{775DCB02-9BB8-47FD-8907-85C794F793BA}</a:tableStyleId>
              </a:tblPr>
              <a:tblGrid>
                <a:gridCol w="672650">
                  <a:extLst>
                    <a:ext uri="{9D8B030D-6E8A-4147-A177-3AD203B41FA5}">
                      <a16:colId xmlns:a16="http://schemas.microsoft.com/office/drawing/2014/main" val="695239292"/>
                    </a:ext>
                  </a:extLst>
                </a:gridCol>
                <a:gridCol w="1356061">
                  <a:extLst>
                    <a:ext uri="{9D8B030D-6E8A-4147-A177-3AD203B41FA5}">
                      <a16:colId xmlns:a16="http://schemas.microsoft.com/office/drawing/2014/main" val="1891956723"/>
                    </a:ext>
                  </a:extLst>
                </a:gridCol>
                <a:gridCol w="2034092">
                  <a:extLst>
                    <a:ext uri="{9D8B030D-6E8A-4147-A177-3AD203B41FA5}">
                      <a16:colId xmlns:a16="http://schemas.microsoft.com/office/drawing/2014/main" val="1936212307"/>
                    </a:ext>
                  </a:extLst>
                </a:gridCol>
                <a:gridCol w="1162337">
                  <a:extLst>
                    <a:ext uri="{9D8B030D-6E8A-4147-A177-3AD203B41FA5}">
                      <a16:colId xmlns:a16="http://schemas.microsoft.com/office/drawing/2014/main" val="2221360007"/>
                    </a:ext>
                  </a:extLst>
                </a:gridCol>
              </a:tblGrid>
              <a:tr h="489159">
                <a:tc gridSpan="4">
                  <a:txBody>
                    <a:bodyPr/>
                    <a:lstStyle/>
                    <a:p>
                      <a:pPr marL="0" marR="0" algn="ctr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kern="1200" dirty="0">
                          <a:effectLst/>
                        </a:rPr>
                        <a:t>HDBSCAN Results for Top 5 Earth-Like Exoplanets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3851504"/>
                  </a:ext>
                </a:extLst>
              </a:tr>
              <a:tr h="489159">
                <a:tc>
                  <a:txBody>
                    <a:bodyPr/>
                    <a:lstStyle/>
                    <a:p>
                      <a:pPr marL="0" marR="0" algn="ctr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200" dirty="0">
                          <a:effectLst/>
                        </a:rPr>
                        <a:t>Rank</a:t>
                      </a:r>
                      <a:endParaRPr lang="en-US" sz="1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200" dirty="0">
                          <a:effectLst/>
                        </a:rPr>
                        <a:t>Planet</a:t>
                      </a:r>
                      <a:endParaRPr lang="en-US" sz="1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200" dirty="0">
                          <a:effectLst/>
                        </a:rPr>
                        <a:t>Cluster_Type</a:t>
                      </a:r>
                      <a:r>
                        <a:rPr lang="en-US" sz="1200" b="1" kern="100" dirty="0">
                          <a:effectLst/>
                        </a:rPr>
                        <a:t> </a:t>
                      </a:r>
                      <a:r>
                        <a:rPr lang="en-US" sz="1200" b="1" kern="1200" dirty="0">
                          <a:effectLst/>
                        </a:rPr>
                        <a:t>(Planetary System)</a:t>
                      </a:r>
                      <a:endParaRPr lang="en-US" sz="1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200" dirty="0">
                          <a:effectLst/>
                        </a:rPr>
                        <a:t>Cluster Probability</a:t>
                      </a:r>
                      <a:endParaRPr lang="en-US" sz="1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7849767"/>
                  </a:ext>
                </a:extLst>
              </a:tr>
              <a:tr h="752326"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1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Kepler-452 b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>
                          <a:effectLst/>
                        </a:rPr>
                        <a:t>Sun-like stars hosting Super-Earth-sized rocky planets in the habitable zone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100%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2057360"/>
                  </a:ext>
                </a:extLst>
              </a:tr>
              <a:tr h="752326"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>
                          <a:effectLst/>
                        </a:rPr>
                        <a:t>2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Kepler-1638 b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Sun-like stars hosting Super-Earth-sized rocky planets in the habitable zone 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85.7%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7308659"/>
                  </a:ext>
                </a:extLst>
              </a:tr>
              <a:tr h="752326"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>
                          <a:effectLst/>
                        </a:rPr>
                        <a:t>3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>
                          <a:effectLst/>
                        </a:rPr>
                        <a:t>Kepler-51 e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Sun-like stars hosting Super-Earth-sized rocky planets in the habitable zone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100%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3260589"/>
                  </a:ext>
                </a:extLst>
              </a:tr>
              <a:tr h="752326"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>
                          <a:effectLst/>
                        </a:rPr>
                        <a:t>4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>
                          <a:effectLst/>
                        </a:rPr>
                        <a:t>Kepler-1606 b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Sun-like stars hosting Super-Earth-sized rocky planets in the habitable zone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100%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3661827"/>
                  </a:ext>
                </a:extLst>
              </a:tr>
              <a:tr h="752326"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>
                          <a:effectLst/>
                        </a:rPr>
                        <a:t>5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>
                          <a:effectLst/>
                        </a:rPr>
                        <a:t>Kepler-1701 b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>
                          <a:effectLst/>
                        </a:rPr>
                        <a:t>Sun-like stars hosting Super-Earth-sized rocky planets in the habitable zone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100%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4197600"/>
                  </a:ext>
                </a:extLst>
              </a:tr>
            </a:tbl>
          </a:graphicData>
        </a:graphic>
      </p:graphicFrame>
      <p:pic>
        <p:nvPicPr>
          <p:cNvPr id="1028" name="Picture 4">
            <a:extLst>
              <a:ext uri="{FF2B5EF4-FFF2-40B4-BE49-F238E27FC236}">
                <a16:creationId xmlns:a16="http://schemas.microsoft.com/office/drawing/2014/main" id="{9A51B153-7B01-8612-3ACD-6E233F358E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460946"/>
            <a:ext cx="6495155" cy="52214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7975031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083C6C-9912-7F03-B887-BD00D77F4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2EB3986-559D-B81D-99C2-65F853B6B5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24174" y="2939144"/>
            <a:ext cx="10302240" cy="1680361"/>
          </a:xfrm>
        </p:spPr>
        <p:txBody>
          <a:bodyPr/>
          <a:lstStyle/>
          <a:p>
            <a:pPr algn="ctr"/>
            <a:r>
              <a:rPr lang="en-US" dirty="0"/>
              <a:t>Conclusion &amp; </a:t>
            </a:r>
            <a:br>
              <a:rPr lang="en-US" dirty="0"/>
            </a:br>
            <a:r>
              <a:rPr lang="en-US" dirty="0"/>
              <a:t>Future Work</a:t>
            </a:r>
          </a:p>
        </p:txBody>
      </p:sp>
    </p:spTree>
    <p:extLst>
      <p:ext uri="{BB962C8B-B14F-4D97-AF65-F5344CB8AC3E}">
        <p14:creationId xmlns:p14="http://schemas.microsoft.com/office/powerpoint/2010/main" val="156191067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BE7F25-D831-F1DB-40CC-4CEC3012B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Satellite dish and sparkling night sky">
            <a:extLst>
              <a:ext uri="{FF2B5EF4-FFF2-40B4-BE49-F238E27FC236}">
                <a16:creationId xmlns:a16="http://schemas.microsoft.com/office/drawing/2014/main" id="{08B0BF8B-B371-C003-A56F-24ECFE1516D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alphaModFix amt="5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56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24" y="0"/>
            <a:ext cx="12191551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DD6FD44-C071-08AF-6602-C0536A9FFA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23239"/>
            <a:ext cx="8311102" cy="796482"/>
          </a:xfrm>
        </p:spPr>
        <p:txBody>
          <a:bodyPr/>
          <a:lstStyle/>
          <a:p>
            <a:pPr algn="ctr"/>
            <a:r>
              <a:rPr lang="en-US" dirty="0"/>
              <a:t>Conclusions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4CC0BFF-B4B6-9B8D-192C-02C5AACFD0CA}"/>
              </a:ext>
            </a:extLst>
          </p:cNvPr>
          <p:cNvSpPr txBox="1"/>
          <p:nvPr/>
        </p:nvSpPr>
        <p:spPr>
          <a:xfrm>
            <a:off x="1423558" y="1019721"/>
            <a:ext cx="8238930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/>
            <a:endParaRPr lang="en-US" sz="20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bg1"/>
                </a:solidFill>
              </a:rPr>
              <a:t>KNN Model #1 (Manhattan Distance) and KNN Model #2 (Euclidean Distance) shows: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The most Earth-Like exoplanet is Kepler-452 b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Followed by Kepler-1638 b, Kepler-51 e, Kepler-1606 b, and Kepler-1701 b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Top 5 Earth-like exoplanets remain consistent using both distance metrics </a:t>
            </a:r>
            <a:r>
              <a:rPr lang="en-US" sz="2000" dirty="0">
                <a:solidFill>
                  <a:schemeClr val="bg1"/>
                </a:solidFill>
                <a:sym typeface="Wingdings" panose="05000000000000000000" pitchFamily="2" charset="2"/>
              </a:rPr>
              <a:t> T</a:t>
            </a:r>
            <a:r>
              <a:rPr lang="en-US" sz="2000" dirty="0">
                <a:solidFill>
                  <a:schemeClr val="bg1"/>
                </a:solidFill>
              </a:rPr>
              <a:t>op-ranked Earth-Like planets are robust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Mid-ranked Earth-Like exoplanets are sensitive to distance metric choice </a:t>
            </a:r>
            <a:r>
              <a:rPr lang="en-US" sz="2000" dirty="0">
                <a:solidFill>
                  <a:schemeClr val="bg1"/>
                </a:solidFill>
                <a:sym typeface="Wingdings" panose="05000000000000000000" pitchFamily="2" charset="2"/>
              </a:rPr>
              <a:t> S</a:t>
            </a:r>
            <a:r>
              <a:rPr lang="en-US" sz="2000" dirty="0">
                <a:solidFill>
                  <a:schemeClr val="bg1"/>
                </a:solidFill>
              </a:rPr>
              <a:t>imilarity rankings less stable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A188B0-A9FF-7384-7651-2DCDC707A669}"/>
              </a:ext>
            </a:extLst>
          </p:cNvPr>
          <p:cNvCxnSpPr>
            <a:cxnSpLocks/>
          </p:cNvCxnSpPr>
          <p:nvPr/>
        </p:nvCxnSpPr>
        <p:spPr>
          <a:xfrm>
            <a:off x="1278294" y="0"/>
            <a:ext cx="0" cy="685800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47055B38-1BE5-D6CB-E801-606060FF93B1}"/>
              </a:ext>
            </a:extLst>
          </p:cNvPr>
          <p:cNvSpPr txBox="1"/>
          <p:nvPr/>
        </p:nvSpPr>
        <p:spPr>
          <a:xfrm>
            <a:off x="1423558" y="4303455"/>
            <a:ext cx="9861128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bg1"/>
                </a:solidFill>
              </a:rPr>
              <a:t>K-Means Clustering, GMM, and HDBSCAN Shows Agreement: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Consistent results for grouping top 10 Earth-Like exoplanets into planetary systems </a:t>
            </a:r>
            <a:r>
              <a:rPr lang="en-US" sz="2000" dirty="0">
                <a:solidFill>
                  <a:schemeClr val="bg1"/>
                </a:solidFill>
                <a:sym typeface="Wingdings" panose="05000000000000000000" pitchFamily="2" charset="2"/>
              </a:rPr>
              <a:t> validates results</a:t>
            </a:r>
            <a:endParaRPr lang="en-US" sz="2000" dirty="0">
              <a:solidFill>
                <a:schemeClr val="bg1"/>
              </a:solidFill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All 3 models successfully identified the natural planetary groupings of all confirmed exoplanets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Groupings show top 5 exoplanets are likely rocky Earth-sized or Super-Earth-sized planets orbiting a Type-G (Sun-Like) star within the Habitable Zone of its star within the Galactic Habitable Zone (Potentially habitable)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0025DF95-B845-7F15-D88C-F00F2FC94FF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371252" y="0"/>
            <a:ext cx="2794379" cy="2360645"/>
          </a:xfrm>
          <a:prstGeom prst="rect">
            <a:avLst/>
          </a:prstGeom>
          <a:effectLst>
            <a:softEdge rad="127000"/>
          </a:effectLst>
        </p:spPr>
      </p:pic>
    </p:spTree>
    <p:extLst>
      <p:ext uri="{BB962C8B-B14F-4D97-AF65-F5344CB8AC3E}">
        <p14:creationId xmlns:p14="http://schemas.microsoft.com/office/powerpoint/2010/main" val="107570407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B36B84-1CDF-8D7A-078F-5E505B887A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Satellite dish and sparkling night sky">
            <a:extLst>
              <a:ext uri="{FF2B5EF4-FFF2-40B4-BE49-F238E27FC236}">
                <a16:creationId xmlns:a16="http://schemas.microsoft.com/office/drawing/2014/main" id="{A41E5BA7-E2BE-F07C-BCB9-7304109029C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alphaModFix amt="5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56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24" y="0"/>
            <a:ext cx="12191551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EFD21B8-79A9-2F0D-B3E6-AC9D2C0F93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7133" y="699796"/>
            <a:ext cx="7597902" cy="933061"/>
          </a:xfrm>
        </p:spPr>
        <p:txBody>
          <a:bodyPr/>
          <a:lstStyle/>
          <a:p>
            <a:pPr algn="ctr"/>
            <a:r>
              <a:rPr lang="en-US" dirty="0"/>
              <a:t>Conclusions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F3D66D-C540-1395-2129-4CDD4AECCBB5}"/>
              </a:ext>
            </a:extLst>
          </p:cNvPr>
          <p:cNvSpPr txBox="1"/>
          <p:nvPr/>
        </p:nvSpPr>
        <p:spPr>
          <a:xfrm>
            <a:off x="1464906" y="1901850"/>
            <a:ext cx="10179697" cy="470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bg1"/>
                </a:solidFill>
              </a:rPr>
              <a:t>K-Means Clustering, GMM, and HDBSCAN Comparison:</a:t>
            </a:r>
          </a:p>
          <a:p>
            <a:endParaRPr lang="en-US" sz="1000" b="1" dirty="0">
              <a:solidFill>
                <a:schemeClr val="bg1"/>
              </a:solidFill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K-Means classified planets based on their stellar features. GMM classified planets based on stellar and planetary features. HDBSCAN classified planets based on all key features.</a:t>
            </a:r>
          </a:p>
          <a:p>
            <a:pPr lvl="1"/>
            <a:endParaRPr lang="en-US" sz="1000" dirty="0">
              <a:solidFill>
                <a:schemeClr val="bg1"/>
              </a:solidFill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GMM’s high membership probability (&gt;99%) </a:t>
            </a:r>
            <a:r>
              <a:rPr lang="en-US" sz="2000" dirty="0">
                <a:solidFill>
                  <a:schemeClr val="bg1"/>
                </a:solidFill>
                <a:sym typeface="Wingdings" panose="05000000000000000000" pitchFamily="2" charset="2"/>
              </a:rPr>
              <a:t> high confidence </a:t>
            </a:r>
            <a:r>
              <a:rPr lang="en-US" sz="2000" dirty="0">
                <a:solidFill>
                  <a:schemeClr val="bg1"/>
                </a:solidFill>
              </a:rPr>
              <a:t>in correctly assigning all exoplanets to clusters (including top 10 Earth-Like exoplanets).</a:t>
            </a:r>
          </a:p>
          <a:p>
            <a:pPr lvl="1"/>
            <a:endParaRPr lang="en-US" sz="1000" dirty="0">
              <a:solidFill>
                <a:schemeClr val="bg1"/>
              </a:solidFill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HDBSCAN’s high membership probability (85% - 100%) </a:t>
            </a:r>
            <a:r>
              <a:rPr lang="en-US" sz="2000" dirty="0">
                <a:solidFill>
                  <a:schemeClr val="bg1"/>
                </a:solidFill>
                <a:sym typeface="Wingdings" panose="05000000000000000000" pitchFamily="2" charset="2"/>
              </a:rPr>
              <a:t></a:t>
            </a:r>
            <a:r>
              <a:rPr lang="en-US" sz="2000" dirty="0">
                <a:solidFill>
                  <a:schemeClr val="bg1"/>
                </a:solidFill>
              </a:rPr>
              <a:t> high confidence in correctly assigning top 10 Earth-Like exoplanets to clusters.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bg1"/>
              </a:solidFill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Clustering structure for K-Means and GMM same due to manually removing outlier planets.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bg1"/>
              </a:solidFill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Clustering structure for HBDSCAN different since outlier planets automatically removed by model.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1DFCDBA-A76F-A0E2-3B8B-D1B739B38A0F}"/>
              </a:ext>
            </a:extLst>
          </p:cNvPr>
          <p:cNvCxnSpPr>
            <a:cxnSpLocks/>
          </p:cNvCxnSpPr>
          <p:nvPr/>
        </p:nvCxnSpPr>
        <p:spPr>
          <a:xfrm>
            <a:off x="1278294" y="0"/>
            <a:ext cx="0" cy="685800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B9D85943-2558-A78D-0523-23437D43388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876196" y="168352"/>
            <a:ext cx="3017201" cy="2014609"/>
          </a:xfrm>
          <a:prstGeom prst="rect">
            <a:avLst/>
          </a:prstGeom>
          <a:effectLst>
            <a:softEdge rad="127000"/>
          </a:effectLst>
        </p:spPr>
      </p:pic>
    </p:spTree>
    <p:extLst>
      <p:ext uri="{BB962C8B-B14F-4D97-AF65-F5344CB8AC3E}">
        <p14:creationId xmlns:p14="http://schemas.microsoft.com/office/powerpoint/2010/main" val="201109107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1D19A9-E716-B139-3E94-5006D945AF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15A6DC-C407-231C-9AA0-730DF97C55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7133" y="625151"/>
            <a:ext cx="8311102" cy="1138336"/>
          </a:xfrm>
        </p:spPr>
        <p:txBody>
          <a:bodyPr/>
          <a:lstStyle/>
          <a:p>
            <a:pPr algn="ctr"/>
            <a:r>
              <a:rPr lang="en-US" dirty="0"/>
              <a:t>Future work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EDE6B1-28DB-DA8B-D88F-45CCF4A09D27}"/>
              </a:ext>
            </a:extLst>
          </p:cNvPr>
          <p:cNvSpPr txBox="1"/>
          <p:nvPr/>
        </p:nvSpPr>
        <p:spPr>
          <a:xfrm>
            <a:off x="1735494" y="1901850"/>
            <a:ext cx="6102220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Expanding study to predict habitability for all exoplanets regardless of their feature similarity to Earth.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Use additional unsupervised learning models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Rank exoplanets by their habitability potential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Analyze the planetary structure of outlier exoplanets which exhibit anomalous features from current known planetary structures. 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D09C180-C72E-6B03-10E8-7AE35F70EDBE}"/>
              </a:ext>
            </a:extLst>
          </p:cNvPr>
          <p:cNvCxnSpPr>
            <a:cxnSpLocks/>
          </p:cNvCxnSpPr>
          <p:nvPr/>
        </p:nvCxnSpPr>
        <p:spPr>
          <a:xfrm>
            <a:off x="1278294" y="0"/>
            <a:ext cx="0" cy="685800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2" name="Picture 4" descr="James Webb Space Telescope Reveals 'Cosmic Tornado' and Hidden Galaxy in  Striking New Images - The Debrief">
            <a:extLst>
              <a:ext uri="{FF2B5EF4-FFF2-40B4-BE49-F238E27FC236}">
                <a16:creationId xmlns:a16="http://schemas.microsoft.com/office/drawing/2014/main" id="{DF0BAF6A-8512-5023-17D5-E8E69442C9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189926" y="3465037"/>
            <a:ext cx="2693436" cy="3273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 descr="Northwestern to lead $20 million National AI Research Institute in Astronomy  - Northwestern Now">
            <a:extLst>
              <a:ext uri="{FF2B5EF4-FFF2-40B4-BE49-F238E27FC236}">
                <a16:creationId xmlns:a16="http://schemas.microsoft.com/office/drawing/2014/main" id="{D03AC7FB-B822-9D7E-B3B3-5598E3E9235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536644" y="82971"/>
            <a:ext cx="2514139" cy="33099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4098682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NGC 602 (Webb image) | ESA/Webb">
            <a:extLst>
              <a:ext uri="{FF2B5EF4-FFF2-40B4-BE49-F238E27FC236}">
                <a16:creationId xmlns:a16="http://schemas.microsoft.com/office/drawing/2014/main" id="{905D1D72-375A-C77B-AE1C-4BF738D1609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475D893-E98A-260A-9EC4-B9365E533F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87864" y="2677886"/>
            <a:ext cx="7983110" cy="1870602"/>
          </a:xfrm>
          <a:solidFill>
            <a:srgbClr val="A0484E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/>
          <a:p>
            <a:pPr algn="ctr"/>
            <a:r>
              <a:rPr lang="en-US" dirty="0"/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4273949180"/>
      </p:ext>
    </p:extLst>
  </p:cSld>
  <p:clrMapOvr>
    <a:masterClrMapping/>
  </p:clrMapOvr>
</p:sld>
</file>

<file path=ppt/theme/theme1.xml><?xml version="1.0" encoding="utf-8"?>
<a:theme xmlns:a="http://schemas.openxmlformats.org/drawingml/2006/main" name="GradientVTI">
  <a:themeElements>
    <a:clrScheme name="Gradient">
      <a:dk1>
        <a:sysClr val="windowText" lastClr="000000"/>
      </a:dk1>
      <a:lt1>
        <a:sysClr val="window" lastClr="FFFFFF"/>
      </a:lt1>
      <a:dk2>
        <a:srgbClr val="10013F"/>
      </a:dk2>
      <a:lt2>
        <a:srgbClr val="F2F0FF"/>
      </a:lt2>
      <a:accent1>
        <a:srgbClr val="814DFF"/>
      </a:accent1>
      <a:accent2>
        <a:srgbClr val="243FFF"/>
      </a:accent2>
      <a:accent3>
        <a:srgbClr val="FF83B6"/>
      </a:accent3>
      <a:accent4>
        <a:srgbClr val="FF9022"/>
      </a:accent4>
      <a:accent5>
        <a:srgbClr val="FF1F85"/>
      </a:accent5>
      <a:accent6>
        <a:srgbClr val="1A98FF"/>
      </a:accent6>
      <a:hlink>
        <a:srgbClr val="0563C1"/>
      </a:hlink>
      <a:folHlink>
        <a:srgbClr val="954F72"/>
      </a:folHlink>
    </a:clrScheme>
    <a:fontScheme name="Univers">
      <a:majorFont>
        <a:latin typeface="Univers"/>
        <a:ea typeface=""/>
        <a:cs typeface=""/>
      </a:majorFont>
      <a:minorFont>
        <a:latin typeface="Univer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axy presentation_Win32_SL_V16" id="{36B34AD0-AFC2-468E-8620-6CFD159B149F}" vid="{ACCF8893-1A0E-437D-A612-1659D305EA1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ABD9919-8F5A-4B99-83E1-E90FE1DCF2E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0E87F72-70BF-43BC-A0D4-53665DC12672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488E9556-96EB-43B4-8552-B18E859B657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Galaxy presentation</Template>
  <TotalTime>1179</TotalTime>
  <Words>1652</Words>
  <Application>Microsoft Office PowerPoint</Application>
  <PresentationFormat>Widescreen</PresentationFormat>
  <Paragraphs>306</Paragraphs>
  <Slides>37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3" baseType="lpstr">
      <vt:lpstr>Aptos</vt:lpstr>
      <vt:lpstr>Arial</vt:lpstr>
      <vt:lpstr>Calibri</vt:lpstr>
      <vt:lpstr>Univers</vt:lpstr>
      <vt:lpstr>Wingdings</vt:lpstr>
      <vt:lpstr>GradientVTI</vt:lpstr>
      <vt:lpstr>Predicting Earth-Like Similarity in Exoplanets  Using Machine Learning BY: Samia Mahmood</vt:lpstr>
      <vt:lpstr>Introduction</vt:lpstr>
      <vt:lpstr>Motivation: Problem to solve</vt:lpstr>
      <vt:lpstr>objective</vt:lpstr>
      <vt:lpstr>background</vt:lpstr>
      <vt:lpstr>Background:  Stellar criteria</vt:lpstr>
      <vt:lpstr>Background: habitability criteria</vt:lpstr>
      <vt:lpstr>methodology</vt:lpstr>
      <vt:lpstr>Methodology: Initial Data Cleaning</vt:lpstr>
      <vt:lpstr>Methodology: Outliers &amp; duplicate rows</vt:lpstr>
      <vt:lpstr>Methodology: Final Data Cleaning &amp; dataset description</vt:lpstr>
      <vt:lpstr>Methodology: K Nearest Neighbor (KNN) Model</vt:lpstr>
      <vt:lpstr>Methodology: K Means Clustering</vt:lpstr>
      <vt:lpstr>Methodology: Gaussian Mixture Model (GMM) </vt:lpstr>
      <vt:lpstr>Methodology: Hierarchical Density-Based Spatial Clustering of Applications with Noise (HBDSCAN)</vt:lpstr>
      <vt:lpstr>Exploratory Data Analysis (EDA) results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Modeling results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Conclusion &amp;  Future Work</vt:lpstr>
      <vt:lpstr>Conclusions</vt:lpstr>
      <vt:lpstr>Conclusions</vt:lpstr>
      <vt:lpstr>Future work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Samia Z. Mahmood</dc:creator>
  <cp:lastModifiedBy>Samia Z. Mahmood</cp:lastModifiedBy>
  <cp:revision>90</cp:revision>
  <dcterms:created xsi:type="dcterms:W3CDTF">2026-04-22T23:19:55Z</dcterms:created>
  <dcterms:modified xsi:type="dcterms:W3CDTF">2026-04-25T23:57:34Z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